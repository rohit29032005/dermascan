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1"/>
  </p:notesMasterIdLst>
  <p:sldIdLst>
    <p:sldId id="256" r:id="rId2"/>
    <p:sldId id="263" r:id="rId3"/>
    <p:sldId id="257" r:id="rId4"/>
    <p:sldId id="258" r:id="rId5"/>
    <p:sldId id="259" r:id="rId6"/>
    <p:sldId id="269" r:id="rId7"/>
    <p:sldId id="260" r:id="rId8"/>
    <p:sldId id="270" r:id="rId9"/>
    <p:sldId id="271" r:id="rId10"/>
    <p:sldId id="261" r:id="rId11"/>
    <p:sldId id="273" r:id="rId12"/>
    <p:sldId id="264" r:id="rId13"/>
    <p:sldId id="265" r:id="rId14"/>
    <p:sldId id="266" r:id="rId15"/>
    <p:sldId id="267" r:id="rId16"/>
    <p:sldId id="268" r:id="rId17"/>
    <p:sldId id="262" r:id="rId18"/>
    <p:sldId id="274" r:id="rId19"/>
    <p:sldId id="27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58E2E1-8886-43B2-B986-F2B06DAA2FAC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59FDF3-42B5-4A41-B75E-186C38908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858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592BF-19BE-9BF0-E2FC-07A36D054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3AB4F9-CBB3-B18D-E917-C3B0641867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F18A0-E201-1900-A139-E830DD3EA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78AE-7F97-4550-9DD8-BF69171FDC30}" type="datetime1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906B9-B1F6-B52E-2EE0-7595B1EBF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13AE1-F96E-D540-8DE1-8D903DB30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197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2F7EA-3EC9-99AF-13A9-22A3F8B2D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1419B-73DB-15DA-D2EE-0FC01B435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80259-8D20-E29B-4DC5-312C3DB01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1830E-3502-194A-88FA-DC3E0F1B3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6703C-229C-43C6-0484-38EC263AD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990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CE344-6494-09A6-A5E4-811EEE0CD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51A0E2-2B9B-B96E-A3FD-0B26BDDBE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7CE67-8E8A-4D0D-42DF-DDC842B1B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2BD8-A2C4-424B-809A-C64DDCC305D9}" type="datetime1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78C3E-C139-1FD1-979B-D71679959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2F297-889B-B694-6DD5-92F8A6AAF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814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2C89C-FEA2-11F6-7988-ADD14A7B2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5DE7B-A406-1142-36EA-1C14987402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355A2B-361E-86CB-ABBE-C510D2B22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DA5E84-A1E0-A1C4-F7E6-DA9E7B124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0F4BC-B3A4-46AF-9AEC-8478EF1369D5}" type="datetime1">
              <a:rPr lang="en-IN" smtClean="0"/>
              <a:t>09-09-2026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DDA460-54C8-F2AC-C053-53FF3FAFC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6F132A-BD40-58D2-CEEC-A1BA2B9E2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223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823BE-2514-8722-ED45-41E13E46B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BFEE3B-6ABA-1D24-97FE-717EBBC99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653C42-4C6D-988F-42A0-8639A508A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B662B4-F942-A78F-394F-74F603717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445FBE-A81E-92E1-36E3-99D1586F83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D20C02-77C2-CB2A-62F8-60B8C6262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A2993-B405-4F4D-B968-A01C27211659}" type="datetime1">
              <a:rPr lang="en-IN" smtClean="0"/>
              <a:t>09-09-2026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033241-EB08-777E-F678-5D641F649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D711ED-181F-C690-A3B3-1D82670FC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272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468B4-E355-69B3-7598-80ADF2F9C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F1AB3B-AFC6-3627-62E6-22313061F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8C8C-5FBB-4DD7-A06D-BE263480794B}" type="datetime1">
              <a:rPr lang="en-IN" smtClean="0"/>
              <a:t>09-09-2026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2C6591-48E4-480E-7965-DE9F83015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C9D68-A16A-B2D3-C8A6-B5221AF74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061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3F289A-3AD7-C11D-1594-90A35E592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D2985-06EC-459B-80C8-F6F4362A1C03}" type="datetime1">
              <a:rPr lang="en-IN" smtClean="0"/>
              <a:t>09-09-2026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252269-BBE3-199F-299B-38D4E9CC1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407FDC-B2A9-1304-047F-5808A0B6B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265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A4847-FC20-D9BF-0BDE-26EC7EF74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9C584-AC19-D7B4-9DFE-7C1BC2E1B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4A3262-CE8D-2419-DCCC-C536E9FDA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4758D6-7AF2-29C5-E0EE-3B7BE155E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7E9DA-13C6-48A4-9305-B592482DE8CE}" type="datetime1">
              <a:rPr lang="en-IN" smtClean="0"/>
              <a:t>09-09-2026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AAC7E7-68C4-7616-2DE1-0333E2C44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9EF51B-1685-66FF-0783-23584C25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6387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39D0E-3A71-7252-C837-B8281F0DE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E3D557-6893-299F-57A8-A7B173F101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CC8BA2-BB08-F4E3-5660-C7370BA56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57E1CE-C7CA-966D-8661-1E99A7DA2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E7C4B-C575-4DCF-9B63-045662930500}" type="datetime1">
              <a:rPr lang="en-IN" smtClean="0"/>
              <a:t>09-09-2026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055516-3E64-07E5-10C5-DE056657E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BA5AD5-9867-E76D-C035-2856CCFBC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017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1D7EC-16EA-5009-5D33-ABFC55F28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09EC6D-8ED5-29E9-9444-CC2D6A1CB8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ADFC6-7CEA-ABEE-94C2-870B1E657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6931C-EA1A-43DD-B3B3-66F5BA587712}" type="datetime1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FA3A5-596E-6C2A-F853-30C5DC6FB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CE6B1-CE87-B68F-9494-FA6D109F3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809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0FF105-FC99-2BCB-131F-2B902F8BA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354FD6-064F-6E12-E8DE-81EC913CD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D2109-32D1-4A0F-F903-5142A204E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9B0E1-7C95-4C20-B9C6-BA51F388E878}" type="datetime1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5353D-EEF9-CF3C-A97F-F0F0EBFA7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2F1DC-3958-BCDE-9A16-88E928E7E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354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454249-E28B-CF91-F4A6-9762E4F38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E3D641-7C66-CA7D-30A7-7F95AC27EF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1D408-B228-838E-3E43-4304680A53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827C3E-786B-4150-9177-1C28966A2ADC}" type="datetime1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C7A69-1922-F157-900C-FF95668316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80E76-E345-1553-9664-0BCF569B55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841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9E27CD-EF84-CB3A-3D07-A31523568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7236" y="-11493"/>
            <a:ext cx="4517528" cy="1871634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8BAD67C4-20B4-E1F6-A7E7-C8C33181D0C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800100" y="1546343"/>
            <a:ext cx="10767059" cy="1975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Programme B.Tech</a:t>
            </a:r>
            <a:b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BCSE497J – Project – 1</a:t>
            </a:r>
            <a:br>
              <a:rPr lang="en-IN" sz="20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/>
              <a:t>SKIN LESION TRIAGE AND MONITORING SYSTEM WITH QUALITY GUIDED CAPTURE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68BC382C-506F-4908-6AC3-C0AA73064F47}"/>
              </a:ext>
            </a:extLst>
          </p:cNvPr>
          <p:cNvSpPr txBox="1"/>
          <p:nvPr/>
        </p:nvSpPr>
        <p:spPr>
          <a:xfrm>
            <a:off x="2647949" y="3646621"/>
            <a:ext cx="7071360" cy="27340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20" dirty="0">
                <a:latin typeface="Times New Roman"/>
                <a:cs typeface="Times New Roman"/>
              </a:rPr>
              <a:t>Team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members:</a:t>
            </a:r>
            <a:endParaRPr sz="2000" dirty="0">
              <a:latin typeface="Times New Roman"/>
              <a:cs typeface="Times New Roman"/>
            </a:endParaRPr>
          </a:p>
          <a:p>
            <a:pPr marL="149225" indent="-136525" algn="just">
              <a:lnSpc>
                <a:spcPct val="100000"/>
              </a:lnSpc>
              <a:spcBef>
                <a:spcPts val="20"/>
              </a:spcBef>
              <a:buFont typeface="Times New Roman"/>
              <a:buChar char="•"/>
              <a:tabLst>
                <a:tab pos="149225" algn="l"/>
              </a:tabLst>
            </a:pPr>
            <a:r>
              <a:rPr lang="en-IN" sz="2000" b="1" dirty="0">
                <a:latin typeface="Times New Roman"/>
                <a:cs typeface="Times New Roman"/>
              </a:rPr>
              <a:t>Rohit Shrivastava   		(23BCE0052)</a:t>
            </a:r>
          </a:p>
          <a:p>
            <a:pPr marL="149225" indent="-136525" algn="just">
              <a:lnSpc>
                <a:spcPct val="100000"/>
              </a:lnSpc>
              <a:spcBef>
                <a:spcPts val="20"/>
              </a:spcBef>
              <a:buFont typeface="Times New Roman"/>
              <a:buChar char="•"/>
              <a:tabLst>
                <a:tab pos="149225" algn="l"/>
              </a:tabLst>
            </a:pPr>
            <a:r>
              <a:rPr lang="en-IN" sz="2000" b="1" dirty="0">
                <a:latin typeface="Times New Roman"/>
                <a:cs typeface="Times New Roman"/>
              </a:rPr>
              <a:t>Anshika Rai			(23BCE0080)</a:t>
            </a:r>
          </a:p>
          <a:p>
            <a:pPr marL="149225" indent="-136525" algn="just">
              <a:lnSpc>
                <a:spcPct val="100000"/>
              </a:lnSpc>
              <a:spcBef>
                <a:spcPts val="20"/>
              </a:spcBef>
              <a:buFont typeface="Times New Roman"/>
              <a:buChar char="•"/>
              <a:tabLst>
                <a:tab pos="149225" algn="l"/>
              </a:tabLst>
            </a:pPr>
            <a:r>
              <a:rPr lang="en-IN" sz="2000" b="1" dirty="0">
                <a:latin typeface="Times New Roman"/>
                <a:cs typeface="Times New Roman"/>
              </a:rPr>
              <a:t>Harshita Singh                              (23BCE0103)</a:t>
            </a:r>
          </a:p>
          <a:p>
            <a:pPr marL="12700">
              <a:lnSpc>
                <a:spcPct val="100000"/>
              </a:lnSpc>
              <a:spcBef>
                <a:spcPts val="20"/>
              </a:spcBef>
              <a:tabLst>
                <a:tab pos="149225" algn="l"/>
              </a:tabLst>
            </a:pPr>
            <a:endParaRPr lang="en-IN" sz="2000" b="1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Times New Roman"/>
                <a:cs typeface="Times New Roman"/>
              </a:rPr>
              <a:t>Faculty</a:t>
            </a:r>
            <a:r>
              <a:rPr lang="en-US" sz="2000" spc="-6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guide</a:t>
            </a:r>
            <a:r>
              <a:rPr lang="en-US" sz="2000" spc="-55" dirty="0">
                <a:latin typeface="Times New Roman"/>
                <a:cs typeface="Times New Roman"/>
              </a:rPr>
              <a:t> </a:t>
            </a:r>
            <a:r>
              <a:rPr lang="en-US" sz="2000" spc="-50" dirty="0">
                <a:latin typeface="Times New Roman"/>
                <a:cs typeface="Times New Roman"/>
              </a:rPr>
              <a:t>:</a:t>
            </a:r>
            <a:endParaRPr lang="en-US" sz="2000" dirty="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20"/>
              </a:spcBef>
            </a:pPr>
            <a:r>
              <a:rPr lang="en-US" sz="2000" b="1" dirty="0" err="1">
                <a:latin typeface="Times New Roman"/>
                <a:cs typeface="Times New Roman"/>
              </a:rPr>
              <a:t>Dr.Sharmila</a:t>
            </a:r>
            <a:r>
              <a:rPr lang="en-US" sz="2000" b="1" dirty="0">
                <a:latin typeface="Times New Roman"/>
                <a:cs typeface="Times New Roman"/>
              </a:rPr>
              <a:t> C.</a:t>
            </a:r>
            <a:endParaRPr lang="en-US"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  <a:tabLst>
                <a:tab pos="149225" algn="l"/>
              </a:tabLst>
            </a:pPr>
            <a:endParaRPr sz="1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43036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CBE13-A9D6-9564-DA47-597E38E09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Approval Mail From Guide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E60853D-2D46-AA55-6A9A-E50A4DF921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14540"/>
            <a:ext cx="10087465" cy="43513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827C50-3ED3-2DB6-C227-6784C6CA9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09-09-2026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4170-792F-28F8-1C31-5F7A8D69F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6528B-72DB-0275-6A94-33ABB5CD7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6560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8A428-04DA-E6A8-7606-5D2FE5F31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To develop an explainable AI-powered web platform for preliminary skin lesion classification and doctor-assisted </a:t>
            </a:r>
            <a:r>
              <a:rPr lang="en-IN" dirty="0" err="1"/>
              <a:t>teledermatology</a:t>
            </a:r>
            <a:r>
              <a:rPr lang="en-IN" dirty="0"/>
              <a:t> consultation, improving accessibility, supporting early skin disease detection, and reducing wait times for dermatological care.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027305EA-516C-11F8-8A54-2BA046094A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0050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9E6AA7-AE20-8A91-BA42-261BF76A2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6562-4E3F-4038-A291-A7AE35CC3E6A}" type="datetime1">
              <a:rPr lang="en-IN" smtClean="0"/>
              <a:t>09-09-2026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7FE434-77F0-B8BE-9198-66090332F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D6A9DA-AEE9-F6FE-EFA8-06396314F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518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D95E8-8D7C-F548-8B75-23C3B2B15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DED8F-1EBD-2E10-598E-0CA3F56F05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4876"/>
            <a:ext cx="10515600" cy="5272088"/>
          </a:xfrm>
        </p:spPr>
        <p:txBody>
          <a:bodyPr>
            <a:normAutofit fontScale="85000" lnSpcReduction="10000"/>
          </a:bodyPr>
          <a:lstStyle/>
          <a:p>
            <a:pPr lvl="0" algn="just"/>
            <a:r>
              <a:rPr lang="en-IN" sz="2400" dirty="0"/>
              <a:t>The proposed </a:t>
            </a:r>
            <a:r>
              <a:rPr lang="en-IN" sz="2400" b="1" dirty="0"/>
              <a:t>AI Derma Assistant</a:t>
            </a:r>
            <a:r>
              <a:rPr lang="en-IN" sz="2400" dirty="0"/>
              <a:t> is a </a:t>
            </a:r>
            <a:r>
              <a:rPr lang="en-IN" sz="2400" b="1" dirty="0"/>
              <a:t>web-based platform</a:t>
            </a:r>
            <a:r>
              <a:rPr lang="en-IN" sz="2400" dirty="0"/>
              <a:t> designed to provide </a:t>
            </a:r>
            <a:r>
              <a:rPr lang="en-IN" sz="2400" b="1" dirty="0"/>
              <a:t>preliminary AI-driven skin lesion screening</a:t>
            </a:r>
            <a:r>
              <a:rPr lang="en-IN" sz="2400" dirty="0"/>
              <a:t> and improve accessibility to dermatological care</a:t>
            </a:r>
          </a:p>
          <a:p>
            <a:pPr lvl="0" algn="just"/>
            <a:r>
              <a:rPr lang="en-IN" sz="2400" dirty="0"/>
              <a:t>The system utilizes a </a:t>
            </a:r>
            <a:r>
              <a:rPr lang="en-IN" sz="2400" b="1" dirty="0"/>
              <a:t>ResNet18 Convolutional Neural Network (CNN)</a:t>
            </a:r>
            <a:r>
              <a:rPr lang="en-IN" sz="2400" dirty="0"/>
              <a:t> with </a:t>
            </a:r>
            <a:r>
              <a:rPr lang="en-IN" sz="2400" b="1" dirty="0"/>
              <a:t>transfer learning</a:t>
            </a:r>
            <a:r>
              <a:rPr lang="en-IN" sz="2400" dirty="0"/>
              <a:t> to classify user-uploaded skin lesion images into </a:t>
            </a:r>
            <a:r>
              <a:rPr lang="en-IN" sz="2400" b="1" dirty="0"/>
              <a:t>seven clinically relevant categories</a:t>
            </a:r>
            <a:r>
              <a:rPr lang="en-IN" sz="2400" dirty="0"/>
              <a:t>.</a:t>
            </a:r>
          </a:p>
          <a:p>
            <a:pPr lvl="0" algn="just"/>
            <a:r>
              <a:rPr lang="en-IN" sz="2400" dirty="0"/>
              <a:t>To improve transparency and user trust, the platform integrates </a:t>
            </a:r>
            <a:r>
              <a:rPr lang="en-IN" sz="2400" b="1" dirty="0"/>
              <a:t>Grad-CAM (Explainable AI)</a:t>
            </a:r>
            <a:r>
              <a:rPr lang="en-IN" sz="2400" dirty="0"/>
              <a:t>, which generates </a:t>
            </a:r>
            <a:r>
              <a:rPr lang="en-IN" sz="2400" b="1" dirty="0"/>
              <a:t>visual heatmaps</a:t>
            </a:r>
            <a:r>
              <a:rPr lang="en-IN" sz="2400" dirty="0"/>
              <a:t> highlighting the regions responsible for the model's predictions. </a:t>
            </a:r>
          </a:p>
          <a:p>
            <a:pPr lvl="0" algn="just"/>
            <a:r>
              <a:rPr lang="en-IN" sz="2400" dirty="0"/>
              <a:t>A </a:t>
            </a:r>
            <a:r>
              <a:rPr lang="en-IN" sz="2400" b="1" dirty="0"/>
              <a:t>Large Language Model (LLM)-powered conversational assistant</a:t>
            </a:r>
            <a:r>
              <a:rPr lang="en-IN" sz="2400" dirty="0"/>
              <a:t> enables users to ask natural-language questions and receive easy-to-understand explanations of the AI results. </a:t>
            </a:r>
          </a:p>
          <a:p>
            <a:pPr lvl="0" algn="just"/>
            <a:r>
              <a:rPr lang="en-IN" sz="2400" dirty="0"/>
              <a:t>The platform incorporates a </a:t>
            </a:r>
            <a:r>
              <a:rPr lang="en-IN" sz="2400" b="1" dirty="0" err="1"/>
              <a:t>teledermatology</a:t>
            </a:r>
            <a:r>
              <a:rPr lang="en-IN" sz="2400" b="1" dirty="0"/>
              <a:t> module</a:t>
            </a:r>
            <a:r>
              <a:rPr lang="en-IN" sz="2400" dirty="0"/>
              <a:t> that forwards AI-generated reports to </a:t>
            </a:r>
            <a:r>
              <a:rPr lang="en-IN" sz="2400" b="1" dirty="0"/>
              <a:t>registered dermatologists</a:t>
            </a:r>
            <a:r>
              <a:rPr lang="en-IN" sz="2400" dirty="0"/>
              <a:t> for professional verification and consultation. </a:t>
            </a:r>
          </a:p>
          <a:p>
            <a:pPr lvl="0" algn="just"/>
            <a:r>
              <a:rPr lang="en-IN" sz="2400" dirty="0"/>
              <a:t>The system is intended as a </a:t>
            </a:r>
            <a:r>
              <a:rPr lang="en-IN" sz="2400" b="1" dirty="0"/>
              <a:t>triage and awareness tool</a:t>
            </a:r>
            <a:r>
              <a:rPr lang="en-IN" sz="2400" dirty="0"/>
              <a:t>, supporting healthcare professionals rather than replacing clinical diagnosis. </a:t>
            </a:r>
          </a:p>
          <a:p>
            <a:pPr lvl="0" algn="just"/>
            <a:r>
              <a:rPr lang="en-IN" sz="2400" dirty="0"/>
              <a:t>By integrating </a:t>
            </a:r>
            <a:r>
              <a:rPr lang="en-IN" sz="2400" b="1" dirty="0"/>
              <a:t>computer vision, Explainable AI, conversational AI, and human-in-the-loop verification</a:t>
            </a:r>
            <a:r>
              <a:rPr lang="en-IN" sz="2400" dirty="0"/>
              <a:t>, the proposed platform aims to deliver a </a:t>
            </a:r>
            <a:r>
              <a:rPr lang="en-IN" sz="2400" b="1" dirty="0"/>
              <a:t>scalable, accessible, transparent, and trustworthy</a:t>
            </a:r>
            <a:r>
              <a:rPr lang="en-IN" sz="2400" dirty="0"/>
              <a:t> solution for early-stage skin health screening. </a:t>
            </a:r>
          </a:p>
          <a:p>
            <a:pPr lvl="0" algn="just"/>
            <a:r>
              <a:rPr lang="en-IN" sz="2400" dirty="0"/>
              <a:t>The overall goal is to </a:t>
            </a:r>
            <a:r>
              <a:rPr lang="en-IN" sz="2400" b="1" dirty="0"/>
              <a:t>support early detection, enable timely referrals, and reduce the burden on dermatological healthcare services</a:t>
            </a:r>
            <a:r>
              <a:rPr lang="en-IN" sz="2400" dirty="0"/>
              <a:t>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156C6ACB-BF9E-DB99-B99C-4896C65273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4800" y="234733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3D067F-DF0A-3BD2-0B9E-C22E39B7F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61D5D-2F82-4210-B67C-C3AADE7FED47}" type="datetime1">
              <a:rPr lang="en-IN" smtClean="0"/>
              <a:t>09-09-2026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FD8C3-C2D0-4BBB-7FD8-43FE2C084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9991A-41D4-F0AB-EF39-ACE70C817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3097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0AE58-8206-476A-BECC-A1ADC0EA1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435FB437-6170-6BA2-1A38-A902855A3E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8056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13BC6E0-D294-E70D-8B27-13FBFEE5E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9193B-09C0-4C85-858C-650926A9B146}" type="datetime1">
              <a:rPr lang="en-IN" smtClean="0"/>
              <a:t>09-09-2026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F284BA2-3334-3EC1-0E81-4C9095897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8F14EB-D02F-8EDE-87F4-A3F7E8D20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5</a:t>
            </a:fld>
            <a:endParaRPr lang="en-IN"/>
          </a:p>
        </p:txBody>
      </p:sp>
      <p:pic>
        <p:nvPicPr>
          <p:cNvPr id="6" name="Content Placeholder 10">
            <a:extLst>
              <a:ext uri="{FF2B5EF4-FFF2-40B4-BE49-F238E27FC236}">
                <a16:creationId xmlns:a16="http://schemas.microsoft.com/office/drawing/2014/main" id="{D7B18893-791B-BAE4-C9C7-0375D69594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2500" y="1329934"/>
            <a:ext cx="10011155" cy="4847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449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7E208-EFCF-72BA-8356-37C5A7AD6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59B9DF33-B210-5964-F7E3-7E09A73787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8056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5D08DA0-5F3B-F453-F08C-7A8051C6D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9193B-09C0-4C85-858C-650926A9B146}" type="datetime1">
              <a:rPr lang="en-IN" smtClean="0"/>
              <a:t>09-09-2026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8F6D3BC-9020-19DD-D787-8E1098E28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F644EE5-068C-7C00-BAF7-ED9421AEE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6</a:t>
            </a:fld>
            <a:endParaRPr lang="en-IN"/>
          </a:p>
        </p:txBody>
      </p:sp>
      <p:pic>
        <p:nvPicPr>
          <p:cNvPr id="5" name="Content Placeholder 7">
            <a:extLst>
              <a:ext uri="{FF2B5EF4-FFF2-40B4-BE49-F238E27FC236}">
                <a16:creationId xmlns:a16="http://schemas.microsoft.com/office/drawing/2014/main" id="{4EF6AF15-79D1-8D64-52FE-9EB067ADBA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4754" y="1504950"/>
            <a:ext cx="10108902" cy="4514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7452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64C5E-26B3-2EE9-895A-F822E4C49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F8AC8-6380-9217-CA4C-1FBF1C25C6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4949"/>
            <a:ext cx="10515600" cy="4672013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n-IN" sz="3200" b="1" dirty="0"/>
              <a:t>Gap 1: Lack of Clinical Validation for AI Explanations</a:t>
            </a:r>
            <a:endParaRPr lang="en-IN" sz="3200" dirty="0"/>
          </a:p>
          <a:p>
            <a:pPr lvl="0" algn="just"/>
            <a:r>
              <a:rPr lang="en-IN" dirty="0"/>
              <a:t>LLM chatbots have been shown to translate diagnostic results into plain language, but this is validated mostly through </a:t>
            </a:r>
            <a:r>
              <a:rPr lang="en-IN" b="1" dirty="0"/>
              <a:t>simulated interactions</a:t>
            </a:r>
            <a:r>
              <a:rPr lang="en-IN" dirty="0"/>
              <a:t>, not real clinical trials</a:t>
            </a:r>
          </a:p>
          <a:p>
            <a:pPr lvl="0" algn="just"/>
            <a:r>
              <a:rPr lang="en-IN" dirty="0"/>
              <a:t>Only </a:t>
            </a:r>
            <a:r>
              <a:rPr lang="en-IN" b="1" dirty="0"/>
              <a:t>16%</a:t>
            </a:r>
            <a:r>
              <a:rPr lang="en-IN" dirty="0"/>
              <a:t> of LLM-based chatbot studies have reached actual clinical efficacy testing; the rest remain in early technical validation</a:t>
            </a:r>
          </a:p>
          <a:p>
            <a:pPr marL="0" lvl="0" indent="0" algn="just">
              <a:buNone/>
            </a:pPr>
            <a:r>
              <a:rPr lang="en-IN" sz="3200" b="1" dirty="0"/>
              <a:t>Gap 2: No Long-Term Safety or Outcome Tracking</a:t>
            </a:r>
          </a:p>
          <a:p>
            <a:pPr lvl="0" algn="just"/>
            <a:r>
              <a:rPr lang="en-IN" dirty="0"/>
              <a:t>No existing studies track patient harm, confusion, or misunderstanding caused by AI-generated explanations over time</a:t>
            </a:r>
          </a:p>
          <a:p>
            <a:pPr lvl="0" algn="just"/>
            <a:r>
              <a:rPr lang="en-IN" dirty="0"/>
              <a:t>Known risks of chatbots </a:t>
            </a:r>
            <a:r>
              <a:rPr lang="en-IN" b="1" dirty="0"/>
              <a:t>hallucinating false information</a:t>
            </a:r>
            <a:r>
              <a:rPr lang="en-IN" dirty="0"/>
              <a:t> remain unaddressed in real-world diagnostic use</a:t>
            </a:r>
          </a:p>
          <a:p>
            <a:pPr marL="0" lvl="0" indent="0" algn="just">
              <a:buNone/>
            </a:pPr>
            <a:r>
              <a:rPr lang="en-IN" sz="3200" b="1" dirty="0"/>
              <a:t>Gap 3: Weak Methodological Standards</a:t>
            </a:r>
          </a:p>
          <a:p>
            <a:pPr lvl="0" algn="just"/>
            <a:r>
              <a:rPr lang="en-IN" b="1" dirty="0"/>
              <a:t>65%</a:t>
            </a:r>
            <a:r>
              <a:rPr lang="en-IN" dirty="0"/>
              <a:t> of chatbot health-advice studies rely on subjective evaluation instead of objective comprehension metrics</a:t>
            </a:r>
          </a:p>
          <a:p>
            <a:pPr lvl="0" algn="just"/>
            <a:r>
              <a:rPr lang="en-IN" dirty="0"/>
              <a:t>Most studies fail to disclose model configuration (temperature, prompt design), making results </a:t>
            </a:r>
            <a:r>
              <a:rPr lang="en-IN" b="1" dirty="0"/>
              <a:t>difficult to reproduce or verify</a:t>
            </a:r>
            <a:endParaRPr lang="en-IN" dirty="0"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E07AC55-BA5E-4123-39E6-B79860C6C9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430A72-466B-CBDE-2F02-635BA91A9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E986A-8308-4C4E-A0F3-DDD9B5B25762}" type="datetime1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1DDA3-7A7C-1F61-1795-3A01ED678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E3226-1DB1-3A4D-CE37-4A2AD48EF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102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66CF4-F1A1-F49C-A0CB-E61EDD3D8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11A9C-2EF4-EAF0-468C-CFE51FBFCE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4949"/>
            <a:ext cx="10515600" cy="4672013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n-IN" sz="3200" b="1" dirty="0"/>
              <a:t>Gap 4: Inconsistent, Unsupervised Explanations</a:t>
            </a:r>
            <a:endParaRPr lang="en-IN" sz="3200" dirty="0"/>
          </a:p>
          <a:p>
            <a:pPr lvl="0" algn="just"/>
            <a:r>
              <a:rPr lang="en-IN" dirty="0"/>
              <a:t>Chatbots like ChatGPT generate </a:t>
            </a:r>
            <a:r>
              <a:rPr lang="en-IN" b="1" dirty="0"/>
              <a:t>different responses to the same medical report</a:t>
            </a:r>
            <a:r>
              <a:rPr lang="en-IN" dirty="0"/>
              <a:t> on repeated queries, risking inconsistent patient understanding</a:t>
            </a:r>
          </a:p>
          <a:p>
            <a:pPr lvl="0" algn="just"/>
            <a:r>
              <a:rPr lang="en-IN" dirty="0"/>
              <a:t>No system currently combines image-based AI diagnosis with a </a:t>
            </a:r>
            <a:r>
              <a:rPr lang="en-IN" b="1" dirty="0"/>
              <a:t>dermatologist-verified</a:t>
            </a:r>
            <a:r>
              <a:rPr lang="en-IN" dirty="0"/>
              <a:t>, explainable conversational layer</a:t>
            </a:r>
          </a:p>
          <a:p>
            <a:pPr marL="0" indent="0" algn="just">
              <a:buNone/>
            </a:pPr>
            <a:r>
              <a:rPr lang="en-IN" sz="3200" b="1" dirty="0"/>
              <a:t>Gap 5: Lack of Clinical Validation for AI Explanations</a:t>
            </a:r>
            <a:endParaRPr lang="en-IN" sz="3200" dirty="0"/>
          </a:p>
          <a:p>
            <a:pPr lvl="0" algn="just"/>
            <a:r>
              <a:rPr lang="en-IN" dirty="0"/>
              <a:t>LLM chatbots have been shown to translate diagnostic results into plain language, but validation relies on </a:t>
            </a:r>
            <a:r>
              <a:rPr lang="en-IN" b="1" dirty="0"/>
              <a:t>simulated interactions</a:t>
            </a:r>
            <a:r>
              <a:rPr lang="en-IN" dirty="0"/>
              <a:t>, not real clinical trials</a:t>
            </a:r>
          </a:p>
          <a:p>
            <a:pPr lvl="0" algn="just"/>
            <a:r>
              <a:rPr lang="en-IN" dirty="0"/>
              <a:t>Only </a:t>
            </a:r>
            <a:r>
              <a:rPr lang="en-IN" b="1" dirty="0"/>
              <a:t>16%</a:t>
            </a:r>
            <a:r>
              <a:rPr lang="en-IN" dirty="0"/>
              <a:t> of LLM chatbot studies have reached actual clinical efficacy testing; the rest remain in early technical validation</a:t>
            </a:r>
          </a:p>
          <a:p>
            <a:pPr marL="0" indent="0" algn="just">
              <a:buNone/>
            </a:pPr>
            <a:r>
              <a:rPr lang="en-IN" sz="3200" b="1" dirty="0"/>
              <a:t>Gap 6: No Long-Term Safety or Outcome Tracking</a:t>
            </a:r>
            <a:endParaRPr lang="en-IN" sz="3200" dirty="0"/>
          </a:p>
          <a:p>
            <a:pPr lvl="0" algn="just"/>
            <a:r>
              <a:rPr lang="en-IN" dirty="0"/>
              <a:t>No existing studies track patient harm, confusion, or misunderstanding caused by AI-generated explanations over time</a:t>
            </a:r>
          </a:p>
          <a:p>
            <a:pPr lvl="0" algn="just"/>
            <a:r>
              <a:rPr lang="en-IN" dirty="0"/>
              <a:t>Known risks of chatbots </a:t>
            </a:r>
            <a:r>
              <a:rPr lang="en-IN" b="1" dirty="0"/>
              <a:t>hallucinating false information</a:t>
            </a:r>
            <a:r>
              <a:rPr lang="en-IN" dirty="0"/>
              <a:t> remain unaddressed in real-world diagnostic use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99F66DEC-415D-7DD5-2735-64CA39FA77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78F2B4-1629-546D-6097-6E4BDED77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E986A-8308-4C4E-A0F3-DDD9B5B25762}" type="datetime1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67757B-5A00-E582-A70B-3124EE3AC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5A6ECF-E8E4-E687-35A8-D0AA74EB5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9034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6BFBD-76D6-2D65-9E1F-27706453B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20949-3C2E-6AA7-A79B-0F470DCBA0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9701"/>
            <a:ext cx="10515600" cy="476726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400" b="1" dirty="0"/>
              <a:t>Gap 7: Accuracy Without Clinical Deployment</a:t>
            </a:r>
            <a:endParaRPr lang="en-IN" sz="2400" dirty="0"/>
          </a:p>
          <a:p>
            <a:pPr lvl="0" algn="just"/>
            <a:r>
              <a:rPr lang="en-IN" sz="2000" dirty="0"/>
              <a:t>Deep learning models achieve dermatologist-level accuracy (</a:t>
            </a:r>
            <a:r>
              <a:rPr lang="en-IN" sz="2000" b="1" dirty="0"/>
              <a:t>82%–99%</a:t>
            </a:r>
            <a:r>
              <a:rPr lang="en-IN" sz="2000" dirty="0"/>
              <a:t>) on benchmark datasets, but a critical gap exists between benchmark performance and real-world clinical deployment and generalizability</a:t>
            </a:r>
          </a:p>
          <a:p>
            <a:pPr marL="0" indent="0" algn="just">
              <a:buNone/>
            </a:pPr>
            <a:r>
              <a:rPr lang="en-IN" sz="2400" b="1" dirty="0"/>
              <a:t>Gap 8: "Black Box" Trust Problem</a:t>
            </a:r>
            <a:endParaRPr lang="en-IN" sz="2400" dirty="0"/>
          </a:p>
          <a:p>
            <a:pPr lvl="0" algn="just"/>
            <a:r>
              <a:rPr lang="en-IN" sz="2000" dirty="0"/>
              <a:t>Most medical AI systems remain black boxes, causing clinicians to hesitate in trusting unvalidated model logic</a:t>
            </a:r>
          </a:p>
          <a:p>
            <a:pPr lvl="0" algn="just"/>
            <a:r>
              <a:rPr lang="en-IN" sz="2000" dirty="0"/>
              <a:t>While XAI methods like </a:t>
            </a:r>
            <a:r>
              <a:rPr lang="en-IN" sz="2000" b="1" dirty="0"/>
              <a:t>Grad-CAM improve transparency</a:t>
            </a:r>
            <a:r>
              <a:rPr lang="en-IN" sz="2000" dirty="0"/>
              <a:t>, </a:t>
            </a:r>
            <a:r>
              <a:rPr lang="en-US" sz="2000" dirty="0"/>
              <a:t>zero prospective clinical trials are evaluating</a:t>
            </a:r>
            <a:r>
              <a:rPr lang="en-IN" sz="2000" dirty="0"/>
              <a:t> whether these explanations actually improve live diagnostic decisions</a:t>
            </a:r>
          </a:p>
          <a:p>
            <a:pPr marL="0" indent="0" algn="just">
              <a:buNone/>
            </a:pPr>
            <a:r>
              <a:rPr lang="en-IN" sz="2400" b="1" dirty="0"/>
              <a:t>Gap 9: Severe Dataset Bias</a:t>
            </a:r>
            <a:endParaRPr lang="en-IN" sz="2400" dirty="0"/>
          </a:p>
          <a:p>
            <a:pPr lvl="0" algn="just"/>
            <a:r>
              <a:rPr lang="en-IN" sz="2000" b="1" dirty="0"/>
              <a:t>92% of studies</a:t>
            </a:r>
            <a:r>
              <a:rPr lang="en-IN" sz="2000" dirty="0"/>
              <a:t> carry high risk-of-bias judgments</a:t>
            </a:r>
          </a:p>
          <a:p>
            <a:pPr lvl="0" algn="just"/>
            <a:r>
              <a:rPr lang="en-IN" sz="2000" dirty="0"/>
              <a:t>Near-total absence of participant ethnicity reporting, with heavy reliance on </a:t>
            </a:r>
            <a:r>
              <a:rPr lang="en-IN" sz="2000" b="1" dirty="0"/>
              <a:t>fair-skinned populations</a:t>
            </a:r>
            <a:r>
              <a:rPr lang="en-IN" sz="2000" dirty="0"/>
              <a:t>  limiting generalizability across diverse skin tones</a:t>
            </a:r>
          </a:p>
          <a:p>
            <a:pPr marL="0" indent="0" algn="just">
              <a:buNone/>
            </a:pPr>
            <a:endParaRPr lang="en-IN" sz="2000" dirty="0"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C619C01D-6C96-D898-6D68-D3F19134AC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FB3380-29AC-35F1-6D9A-F650BB63A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E986A-8308-4C4E-A0F3-DDD9B5B25762}" type="datetime1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8D3582-F3BF-98A9-D4DA-D3049A08D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E7CE9-5257-E517-8414-92DE6B1D8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6904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50AAC-0156-D6F5-7153-C79199994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3ADE1-559A-2DC2-A801-6A915E106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7800"/>
            <a:ext cx="10515600" cy="47291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400" b="1" dirty="0"/>
              <a:t>1. To develop a skin lesion classification model using transfer learning (ResNet18)</a:t>
            </a:r>
            <a:endParaRPr lang="en-IN" sz="2400" dirty="0"/>
          </a:p>
          <a:p>
            <a:pPr lvl="0" algn="just"/>
            <a:r>
              <a:rPr lang="en-IN" sz="2000" dirty="0"/>
              <a:t>Justified by Nigar et al. (2022), who applied ResNet18 on the ISIC 2019 dataset and achieved </a:t>
            </a:r>
            <a:r>
              <a:rPr lang="en-IN" sz="2000" b="1" dirty="0"/>
              <a:t>94.47% accuracy</a:t>
            </a:r>
            <a:r>
              <a:rPr lang="en-IN" sz="2000" dirty="0"/>
              <a:t> for multiclass classification, confirming that pre-trained CNN weights are highly effective for dermatological imaging tasks</a:t>
            </a:r>
          </a:p>
          <a:p>
            <a:pPr marL="0" indent="0" algn="just">
              <a:buNone/>
            </a:pPr>
            <a:r>
              <a:rPr lang="en-IN" sz="2400" b="1" dirty="0"/>
              <a:t>2. To integrate Grad-CAM for explainable AI-driven predictions</a:t>
            </a:r>
            <a:endParaRPr lang="en-IN" sz="2400" dirty="0"/>
          </a:p>
          <a:p>
            <a:pPr lvl="0" algn="just"/>
            <a:r>
              <a:rPr lang="en-IN" sz="2000" dirty="0"/>
              <a:t>Justified by </a:t>
            </a:r>
            <a:r>
              <a:rPr lang="en-IN" sz="2000" dirty="0" err="1"/>
              <a:t>Mridha</a:t>
            </a:r>
            <a:r>
              <a:rPr lang="en-IN" sz="2000" dirty="0"/>
              <a:t> et al. (2023) and Zia Ur Rehman et al. (2022), who used Grad-CAM heatmaps to visually highlight the model's focal regions — significantly improving trust for both users and doctors through visual reasoning</a:t>
            </a:r>
          </a:p>
          <a:p>
            <a:pPr marL="0" indent="0" algn="just">
              <a:buNone/>
            </a:pPr>
            <a:r>
              <a:rPr lang="en-IN" sz="2400" b="1" dirty="0"/>
              <a:t>3. To combine AI-based triage with human doctor verification via a </a:t>
            </a:r>
            <a:r>
              <a:rPr lang="en-IN" sz="2400" b="1" dirty="0" err="1"/>
              <a:t>teledermatology</a:t>
            </a:r>
            <a:r>
              <a:rPr lang="en-IN" sz="2400" b="1" dirty="0"/>
              <a:t> module</a:t>
            </a:r>
            <a:endParaRPr lang="en-IN" sz="2400" dirty="0"/>
          </a:p>
          <a:p>
            <a:pPr lvl="0" algn="just"/>
            <a:r>
              <a:rPr lang="en-IN" sz="2000" dirty="0"/>
              <a:t>Justified by Esteva et al. (2017), who showed AI on mobile devices can extend specialist reach beyond the clinic — supporting a workflow where registered doctors review AI-generated reports for final verification and prescription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2BADD22-870A-4D8F-B788-CCCD5C223F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E4F0EB-E8F1-14D8-E22A-38E83F9BF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09-09-2026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8B93F-BA73-08B5-E0DD-D434FA25B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ABF72-E9F9-626A-63CD-EA20C0714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59624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A0AF1-65AD-F769-1564-2E7C62C38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F8E3C-70C6-DCBF-60A7-033B855639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19126"/>
            <a:ext cx="10515600" cy="55578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400" b="1" dirty="0"/>
              <a:t>Primary SDG: SDG 3 – Good Health and Well-Being</a:t>
            </a:r>
            <a:endParaRPr lang="en-IN" sz="2400" dirty="0"/>
          </a:p>
          <a:p>
            <a:pPr marL="0" lvl="0" indent="0" algn="just">
              <a:buNone/>
            </a:pPr>
            <a:r>
              <a:rPr lang="en-IN" sz="2000" dirty="0"/>
              <a:t>Directly aligns with the project's core aim: improving early detection and access to dermatological screening, particularly for underserved and remote populations</a:t>
            </a:r>
          </a:p>
          <a:p>
            <a:pPr marL="0" indent="0" algn="just">
              <a:buNone/>
            </a:pPr>
            <a:endParaRPr lang="en-IN" sz="2400" dirty="0"/>
          </a:p>
          <a:p>
            <a:pPr marL="0" indent="0" algn="just">
              <a:buNone/>
            </a:pPr>
            <a:r>
              <a:rPr lang="en-IN" sz="2400" b="1" dirty="0"/>
              <a:t>Outcomes</a:t>
            </a:r>
          </a:p>
          <a:p>
            <a:pPr marL="0" lvl="0" indent="0" algn="just">
              <a:buNone/>
            </a:pPr>
            <a:r>
              <a:rPr lang="en-IN" sz="2000" b="1" dirty="0"/>
              <a:t>Conference Paper (Scopus-indexed)</a:t>
            </a:r>
            <a:r>
              <a:rPr lang="en-IN" sz="2000" dirty="0"/>
              <a:t> — based on the classification + explainability results</a:t>
            </a:r>
          </a:p>
          <a:p>
            <a:pPr marL="0" lvl="0" indent="0" algn="just">
              <a:buNone/>
            </a:pPr>
            <a:r>
              <a:rPr lang="en-IN" sz="2000" b="1" dirty="0"/>
              <a:t>Prototype / Product</a:t>
            </a:r>
            <a:r>
              <a:rPr lang="en-IN" sz="2000" dirty="0"/>
              <a:t> — the working AI Derma Assistant web application itself</a:t>
            </a:r>
          </a:p>
          <a:p>
            <a:pPr marL="0" lvl="0" indent="0" algn="just">
              <a:buNone/>
            </a:pPr>
            <a:endParaRPr lang="en-IN" sz="2000" dirty="0"/>
          </a:p>
          <a:p>
            <a:pPr marL="0" lvl="0" indent="0" algn="just">
              <a:buNone/>
            </a:pPr>
            <a:r>
              <a:rPr lang="en-IN" sz="2400" b="1" dirty="0"/>
              <a:t>Current Technology Readiness Level: TRL 4</a:t>
            </a:r>
            <a:r>
              <a:rPr lang="en-IN" sz="2400" dirty="0"/>
              <a:t> – </a:t>
            </a:r>
          </a:p>
          <a:p>
            <a:pPr marL="0" lvl="0" indent="0" algn="just">
              <a:buNone/>
            </a:pPr>
            <a:r>
              <a:rPr lang="en-IN" sz="2000" dirty="0"/>
              <a:t>The core components (ResNet18 classification model, Grad-CAM explainability, and conversational AI module) have been developed and validated together in a lab/development environment, though the system has not yet been tested with real end-users or in a live clinical setting.</a:t>
            </a:r>
          </a:p>
          <a:p>
            <a:pPr marL="0" indent="0" algn="just">
              <a:buNone/>
            </a:pPr>
            <a:endParaRPr lang="en-IN" sz="20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88F673-E26D-A13F-71CB-84A3B2B08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09-09-2026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8858D-7D0B-76F2-F3C6-F5FF1B10C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920264-2738-EF71-A234-802BA6D04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15974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49C0F-2490-21B4-8186-6F75540AC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 descr="System Architecture">
            <a:extLst>
              <a:ext uri="{FF2B5EF4-FFF2-40B4-BE49-F238E27FC236}">
                <a16:creationId xmlns:a16="http://schemas.microsoft.com/office/drawing/2014/main" id="{859ECAC2-5DF0-D0BD-4C81-7CADB064BE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239" t="6992" r="6187" b="13907"/>
          <a:stretch>
            <a:fillRect/>
          </a:stretch>
        </p:blipFill>
        <p:spPr>
          <a:xfrm>
            <a:off x="990600" y="1685925"/>
            <a:ext cx="10172699" cy="4391025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5DE9EA00-8D77-8DC9-1AE3-8B6FD1AF6B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Framework/Architecture/Block Diagram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40592E-46EE-B4F2-7D01-D3568C2F6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09-09-2026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DC439-5940-84EE-247A-E3018795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B23C8-7091-8CFB-BF2C-3A19CCA81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8135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95AF1-B807-AC15-9C1A-B86677AF6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324FF-B70A-2FC0-8FD0-C802E31DD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4475"/>
            <a:ext cx="10515600" cy="4662488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/>
              <a:t>Secure Role-Based Access :</a:t>
            </a:r>
            <a:r>
              <a:rPr lang="en-IN" dirty="0"/>
              <a:t> Authenticates users and separates user, doctor, and administrator functions.</a:t>
            </a:r>
          </a:p>
          <a:p>
            <a:r>
              <a:rPr lang="en-IN" b="1" dirty="0"/>
              <a:t>Image Submission and Storage :</a:t>
            </a:r>
            <a:r>
              <a:rPr lang="en-IN" dirty="0"/>
              <a:t> Collects a lesion image and questionnaire response, detects duplicate uploads, and stores case records.</a:t>
            </a:r>
          </a:p>
          <a:p>
            <a:r>
              <a:rPr lang="en-IN" b="1" dirty="0"/>
              <a:t>Preliminary Lesion Analysis :</a:t>
            </a:r>
            <a:r>
              <a:rPr lang="en-IN" dirty="0"/>
              <a:t> Returns one of seven target classes with a confidence value.</a:t>
            </a:r>
          </a:p>
          <a:p>
            <a:r>
              <a:rPr lang="en-IN" b="1" dirty="0"/>
              <a:t>Visual Explanation :</a:t>
            </a:r>
            <a:r>
              <a:rPr lang="en-IN" dirty="0"/>
              <a:t> Generates a Grad-CAM heatmap to show the image region that influenced the prediction.</a:t>
            </a:r>
          </a:p>
          <a:p>
            <a:r>
              <a:rPr lang="en-IN" b="1" dirty="0"/>
              <a:t>Symptom and Similar-Case Context :</a:t>
            </a:r>
            <a:r>
              <a:rPr lang="en-IN" dirty="0"/>
              <a:t> Calculates the initial severity index and retrieves visually similar stored cases.</a:t>
            </a:r>
          </a:p>
          <a:p>
            <a:r>
              <a:rPr lang="en-IN" b="1" dirty="0"/>
              <a:t>Doctor Feedback and Review :</a:t>
            </a:r>
            <a:r>
              <a:rPr lang="en-IN" dirty="0"/>
              <a:t> Lets verified doctors contribute labelled cases and administrators review dataset records.</a:t>
            </a:r>
          </a:p>
          <a:p>
            <a:r>
              <a:rPr lang="en-IN" b="1" dirty="0"/>
              <a:t>Planned Safety Features :</a:t>
            </a:r>
            <a:r>
              <a:rPr lang="en-IN" dirty="0"/>
              <a:t> Adds quality-guided capture, follow-up comparison, and verified-feedback evaluation in the final phase.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0C9A0194-5820-F292-3A94-449C000E51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F25267-3005-EC45-A624-B78484DFA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09-09-2026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022FF-AD0C-E15E-5F17-B2827B554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D6198-8B2C-26FB-53D2-A5B87C95A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12992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2F2ED-50F9-3DFA-95BB-1A1059C5D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F2560-A5FE-A724-8F39-E7E901E8F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 Authentication and role control : Implemented</a:t>
            </a:r>
          </a:p>
          <a:p>
            <a:r>
              <a:rPr lang="en-IN" dirty="0"/>
              <a:t> Image intake, hashing, and storage : Implemented</a:t>
            </a:r>
          </a:p>
          <a:p>
            <a:r>
              <a:rPr lang="en-IN" dirty="0"/>
              <a:t> Classification and Grad-CAM explanation : Implemented</a:t>
            </a:r>
          </a:p>
          <a:p>
            <a:r>
              <a:rPr lang="en-IN" dirty="0"/>
              <a:t> Questionnaire, chat, and initial severity index : Implemented</a:t>
            </a:r>
          </a:p>
          <a:p>
            <a:r>
              <a:rPr lang="en-IN" dirty="0"/>
              <a:t> Similar-case retrieval : Implemented</a:t>
            </a:r>
          </a:p>
          <a:p>
            <a:r>
              <a:rPr lang="en-IN" dirty="0"/>
              <a:t> Doctor upload and administrator review : Implemented</a:t>
            </a:r>
          </a:p>
          <a:p>
            <a:r>
              <a:rPr lang="en-IN" dirty="0"/>
              <a:t> Quality-guided capture and longitudinal monitoring : Final-phase development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B27DA514-48FC-4BF4-8205-DE21D456C5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4A04E0-6631-130F-A154-C85D978EA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09-09-2026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15995-EDEB-C984-B852-1229C23B1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F5109-389C-3E37-E553-A559233EF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98703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556E8-0003-02C5-D37D-A5CC4CE44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94C56EB-D693-F27A-3435-5301272664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1" y="1712503"/>
            <a:ext cx="5257800" cy="4351338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E386D544-A80A-B599-44C7-B40BA6ECC6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and Results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376B32-FA12-4961-0DBF-EE57A7705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09-09-2026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EF323-27AB-5372-4287-A24CA541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AAC16-1233-230F-5D3B-645E6B28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5E4695D-1D57-3A24-560A-08A923F07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520" y="1712503"/>
            <a:ext cx="554296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1888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49A39-F362-DB35-B5DF-7E322AB9C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F33DD-84F0-A7F9-A1DC-A4DEA1A7D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The current prototype completes an end-to-end preliminary lesion-screening workflow with secure access, image analysis, visual explanation, similar-case retrieval, symptom-aware severity support, and doctor-labelled data contribution. The final phase will add quality-guided capture, explainable confidence-aware triage, repeated-image monitoring, and a verified feedback workflow. The platform remains a decision-support prototype and requires clinical validation before any medical deployment.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754A46F-4AC3-5AF1-0B78-C0B5112BD1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1BAA61-633E-E24B-7DEE-4B2A2B1FA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09-09-2026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3C553-2D0C-5A0A-39DC-21C43BD88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7A7E9-45BE-62F4-D3A6-F19DC6ABE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74987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0E1A0-FA4A-8258-6E10-9F00EDC0B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7CFC0C65-61CC-E657-43F7-99C8E53624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CC4F09CD-956A-B8B3-1183-9C28C80DDB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42975" y="1657017"/>
            <a:ext cx="10515600" cy="413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>
              <a:buNone/>
            </a:pPr>
            <a:r>
              <a:rPr lang="en-IN" sz="2400" dirty="0"/>
              <a:t>[1] A. Esteva et al., "Dermatologist-level classification of skin cancer with deep neural networks," </a:t>
            </a:r>
            <a:r>
              <a:rPr lang="en-IN" sz="2400" i="1" dirty="0"/>
              <a:t>Nature</a:t>
            </a:r>
            <a:r>
              <a:rPr lang="en-IN" sz="2400" dirty="0"/>
              <a:t>, vol. 542, no. 7639, pp. 115-118, Feb. 2017.</a:t>
            </a:r>
          </a:p>
          <a:p>
            <a:pPr marL="0" indent="0" algn="just">
              <a:buNone/>
            </a:pPr>
            <a:r>
              <a:rPr lang="en-IN" sz="2400" dirty="0"/>
              <a:t>[2] N. Ahmad et al., "A novel framework of multiclass skin lesion recognition from </a:t>
            </a:r>
            <a:r>
              <a:rPr lang="en-IN" sz="2400" dirty="0" err="1"/>
              <a:t>dermoscopic</a:t>
            </a:r>
            <a:r>
              <a:rPr lang="en-IN" sz="2400" dirty="0"/>
              <a:t> images using deep learning and explainable AI," </a:t>
            </a:r>
            <a:r>
              <a:rPr lang="en-IN" sz="2400" i="1" dirty="0"/>
              <a:t>Frontiers in Oncology</a:t>
            </a:r>
            <a:r>
              <a:rPr lang="en-IN" sz="2400" dirty="0"/>
              <a:t>, vol. 13, p. 1151257, June 2023.</a:t>
            </a:r>
          </a:p>
          <a:p>
            <a:pPr marL="0" indent="0" algn="just">
              <a:buNone/>
            </a:pPr>
            <a:r>
              <a:rPr lang="en-IN" sz="2400" dirty="0"/>
              <a:t>[3] N. Nigar et al., "A deep learning approach based on explainable artificial intelligence for skin lesion classification," </a:t>
            </a:r>
            <a:r>
              <a:rPr lang="en-IN" sz="2400" i="1" dirty="0"/>
              <a:t>IEEE Access</a:t>
            </a:r>
            <a:r>
              <a:rPr lang="en-IN" sz="2400" dirty="0"/>
              <a:t>, vol. 10, pp. 113715-113725, 2022.</a:t>
            </a:r>
          </a:p>
          <a:p>
            <a:pPr marL="0" indent="0" algn="just">
              <a:buNone/>
            </a:pPr>
            <a:r>
              <a:rPr lang="en-IN" sz="2400" dirty="0"/>
              <a:t>[4] K. </a:t>
            </a:r>
            <a:r>
              <a:rPr lang="en-IN" sz="2400" dirty="0" err="1"/>
              <a:t>Mridha</a:t>
            </a:r>
            <a:r>
              <a:rPr lang="en-IN" sz="2400" dirty="0"/>
              <a:t> et al., "An interpretable skin cancer classification using optimized convolutional neural network for a smart healthcare system," </a:t>
            </a:r>
            <a:r>
              <a:rPr lang="en-IN" sz="2400" i="1" dirty="0"/>
              <a:t>IEEE Access</a:t>
            </a:r>
            <a:r>
              <a:rPr lang="en-IN" sz="2400" dirty="0"/>
              <a:t>, vol. 11, pp. 41003-41018, 2023.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32D3DB-7149-E1E5-D5F9-4FC93A788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C7B6C-E68D-4047-8A1E-3C7BD2842AF7}" type="datetime1">
              <a:rPr lang="en-IN" smtClean="0"/>
              <a:t>09-09-2026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BCABB1-7C63-52E3-2815-3651AE7E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1EAEC-BCE3-2979-69C6-273309B9F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5262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F1A13-384B-15BD-420C-78296EE8A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D77F9B-6299-82C9-AC05-8D486E6C8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C7B6C-E68D-4047-8A1E-3C7BD2842AF7}" type="datetime1">
              <a:rPr lang="en-IN" smtClean="0"/>
              <a:t>09-09-2026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CB3C35-DF62-365F-E30B-FD5FF030B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5FA64F-E542-B6E1-F703-024FE3A89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18</a:t>
            </a:fld>
            <a:endParaRPr lang="en-IN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908EE1B-5E42-A76C-F81B-EF74EF2713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90550"/>
            <a:ext cx="10515600" cy="5586413"/>
          </a:xfrm>
        </p:spPr>
        <p:txBody>
          <a:bodyPr/>
          <a:lstStyle/>
          <a:p>
            <a:pPr marL="0" indent="0" algn="just">
              <a:buNone/>
            </a:pPr>
            <a:r>
              <a:rPr lang="en-IN" dirty="0"/>
              <a:t>[5] P. Murali and D. H. Mazumder, "</a:t>
            </a:r>
            <a:r>
              <a:rPr lang="en-IN" dirty="0" err="1"/>
              <a:t>DermaScanAI</a:t>
            </a:r>
            <a:r>
              <a:rPr lang="en-IN" dirty="0"/>
              <a:t> an explainable hybrid deep learning framework for automated skin lesion classification using dual attention and metadata fusion," </a:t>
            </a:r>
            <a:r>
              <a:rPr lang="en-IN" i="1" dirty="0"/>
              <a:t>Scientific Reports</a:t>
            </a:r>
            <a:r>
              <a:rPr lang="en-IN" dirty="0"/>
              <a:t>, vol. 16, no. 1, p. 15130, March 2026.</a:t>
            </a:r>
          </a:p>
          <a:p>
            <a:pPr marL="0" indent="0" algn="just">
              <a:buNone/>
            </a:pPr>
            <a:r>
              <a:rPr lang="en-IN" dirty="0"/>
              <a:t>[6] A. S. Al-</a:t>
            </a:r>
            <a:r>
              <a:rPr lang="en-IN" dirty="0" err="1"/>
              <a:t>Waisy</a:t>
            </a:r>
            <a:r>
              <a:rPr lang="en-IN" dirty="0"/>
              <a:t> et al., "A deep learning framework for automated early diagnosis and classification of skin cancer lesions in </a:t>
            </a:r>
            <a:r>
              <a:rPr lang="en-IN" dirty="0" err="1"/>
              <a:t>dermoscopy</a:t>
            </a:r>
            <a:r>
              <a:rPr lang="en-IN" dirty="0"/>
              <a:t> images," </a:t>
            </a:r>
            <a:r>
              <a:rPr lang="en-IN" i="1" dirty="0"/>
              <a:t>Scientific Reports</a:t>
            </a:r>
            <a:r>
              <a:rPr lang="en-IN" dirty="0"/>
              <a:t>, vol. 15, no. 1, p. 31234, Aug. 2025.</a:t>
            </a:r>
          </a:p>
          <a:p>
            <a:pPr marL="0" indent="0" algn="just">
              <a:buNone/>
            </a:pPr>
            <a:r>
              <a:rPr lang="en-IN" dirty="0"/>
              <a:t>[7] S. Aksoy et al., "Web-based multimodal deep learning platform with XRAI explainability for real-time skin lesion classification and clinical decision support," </a:t>
            </a:r>
            <a:r>
              <a:rPr lang="en-IN" i="1" dirty="0"/>
              <a:t>Cosmetics</a:t>
            </a:r>
            <a:r>
              <a:rPr lang="en-IN" dirty="0"/>
              <a:t>, vol. 12, no. 5, p. 194, 2025.</a:t>
            </a:r>
          </a:p>
          <a:p>
            <a:pPr marL="0" indent="0">
              <a:buNone/>
            </a:pPr>
            <a:r>
              <a:rPr lang="en-IN" dirty="0"/>
              <a:t>[8] M. Zia Ur Rehman et al., "Classification of skin cancer lesions using explainable deep learning," </a:t>
            </a:r>
            <a:r>
              <a:rPr lang="en-IN" i="1" dirty="0"/>
              <a:t>Sensors</a:t>
            </a:r>
            <a:r>
              <a:rPr lang="en-IN" dirty="0"/>
              <a:t>, vol. 22, no. 18, p. 6915, 2022.</a:t>
            </a:r>
          </a:p>
        </p:txBody>
      </p:sp>
    </p:spTree>
    <p:extLst>
      <p:ext uri="{BB962C8B-B14F-4D97-AF65-F5344CB8AC3E}">
        <p14:creationId xmlns:p14="http://schemas.microsoft.com/office/powerpoint/2010/main" val="7774841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68434-0F4D-D7BE-2921-F1A9C4C14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DF7A85-CF72-9194-CCDA-1DC2518B5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C7B6C-E68D-4047-8A1E-3C7BD2842AF7}" type="datetime1">
              <a:rPr lang="en-IN" smtClean="0"/>
              <a:t>09-09-2026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3AB18D-15CC-A63A-79CC-43ECE42F0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824712-75A7-CD5C-2839-E4543EA1E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19</a:t>
            </a:fld>
            <a:endParaRPr lang="en-IN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DFC6704-ADFF-8BF7-A17D-8342196286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90550"/>
            <a:ext cx="10515600" cy="5586413"/>
          </a:xfrm>
        </p:spPr>
        <p:txBody>
          <a:bodyPr/>
          <a:lstStyle/>
          <a:p>
            <a:pPr marL="0" indent="0" algn="just">
              <a:buNone/>
            </a:pPr>
            <a:r>
              <a:rPr lang="en-IN" dirty="0"/>
              <a:t>[9] F. Afza et al., "Multiclass skin lesion classification using hybrid deep features selection and extreme learning machine," </a:t>
            </a:r>
            <a:r>
              <a:rPr lang="en-IN" i="1" dirty="0"/>
              <a:t>Sensors</a:t>
            </a:r>
            <a:r>
              <a:rPr lang="en-IN" dirty="0"/>
              <a:t>, vol. 22, no. 3, p. 799, 2022.</a:t>
            </a:r>
          </a:p>
          <a:p>
            <a:pPr marL="0" indent="0" algn="just">
              <a:buNone/>
            </a:pPr>
            <a:r>
              <a:rPr lang="en-IN" dirty="0"/>
              <a:t>[10] H. </a:t>
            </a:r>
            <a:r>
              <a:rPr lang="en-IN" dirty="0" err="1"/>
              <a:t>Owida</a:t>
            </a:r>
            <a:r>
              <a:rPr lang="en-IN" dirty="0"/>
              <a:t> et al., "A deep learning-based dual-branch framework for automated skin lesion segmentation and classification via </a:t>
            </a:r>
            <a:r>
              <a:rPr lang="en-IN" dirty="0" err="1"/>
              <a:t>dermoscopic</a:t>
            </a:r>
            <a:r>
              <a:rPr lang="en-IN" dirty="0"/>
              <a:t> images," </a:t>
            </a:r>
            <a:r>
              <a:rPr lang="en-IN" i="1" dirty="0"/>
              <a:t>Scientific Reports</a:t>
            </a:r>
            <a:r>
              <a:rPr lang="en-IN" dirty="0"/>
              <a:t>, vol. 15, no. 1, p. 21783, 2025.</a:t>
            </a:r>
          </a:p>
          <a:p>
            <a:pPr marL="0" indent="0" algn="just">
              <a:buNone/>
            </a:pPr>
            <a:r>
              <a:rPr lang="en-IN" dirty="0"/>
              <a:t>[11] M. A. Kassem et al., "Machine learning and deep learning methods for skin lesion classification and diagnosis: a systematic review," </a:t>
            </a:r>
            <a:r>
              <a:rPr lang="en-IN" i="1" dirty="0"/>
              <a:t>Diagnostics</a:t>
            </a:r>
            <a:r>
              <a:rPr lang="en-IN" dirty="0"/>
              <a:t>, vol. 11, no. 8, p. 1390, Aug. 2021.</a:t>
            </a:r>
          </a:p>
          <a:p>
            <a:pPr marL="0" indent="0" algn="just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94464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1745</Words>
  <Application>Microsoft Office PowerPoint</Application>
  <PresentationFormat>Widescreen</PresentationFormat>
  <Paragraphs>154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Times New Roman</vt:lpstr>
      <vt:lpstr>Office Theme</vt:lpstr>
      <vt:lpstr>Programme B.Tech BCSE497J – Project – 1  SKIN LESION TRIAGE AND MONITORING SYSTEM WITH QUALITY GUIDED CAPTURE</vt:lpstr>
      <vt:lpstr>Approval Mail From Guide</vt:lpstr>
      <vt:lpstr>Aim</vt:lpstr>
      <vt:lpstr>Abstract</vt:lpstr>
      <vt:lpstr>Literature Review</vt:lpstr>
      <vt:lpstr>Literature Review</vt:lpstr>
      <vt:lpstr>Research Gap</vt:lpstr>
      <vt:lpstr>Research Gap</vt:lpstr>
      <vt:lpstr>Research Gap</vt:lpstr>
      <vt:lpstr>Objectives</vt:lpstr>
      <vt:lpstr>PowerPoint Presentation</vt:lpstr>
      <vt:lpstr>Framework/Architecture/Block Diagram</vt:lpstr>
      <vt:lpstr>Functional Requirements</vt:lpstr>
      <vt:lpstr>Modules</vt:lpstr>
      <vt:lpstr>Experiments and Results</vt:lpstr>
      <vt:lpstr>Conclusion</vt:lpstr>
      <vt:lpstr>References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Parthasarathy G</dc:creator>
  <cp:lastModifiedBy>ROHIT SHRIVASTAVA</cp:lastModifiedBy>
  <cp:revision>7</cp:revision>
  <dcterms:created xsi:type="dcterms:W3CDTF">2026-07-14T06:00:41Z</dcterms:created>
  <dcterms:modified xsi:type="dcterms:W3CDTF">2026-09-09T05:02:31Z</dcterms:modified>
</cp:coreProperties>
</file>