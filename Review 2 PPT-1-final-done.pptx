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58" r:id="rId5"/>
    <p:sldId id="259" r:id="rId6"/>
    <p:sldId id="269" r:id="rId7"/>
    <p:sldId id="260" r:id="rId8"/>
    <p:sldId id="270" r:id="rId9"/>
    <p:sldId id="271" r:id="rId10"/>
    <p:sldId id="261" r:id="rId11"/>
    <p:sldId id="273" r:id="rId12"/>
    <p:sldId id="264" r:id="rId13"/>
    <p:sldId id="265" r:id="rId14"/>
    <p:sldId id="266" r:id="rId15"/>
    <p:sldId id="267" r:id="rId16"/>
    <p:sldId id="268" r:id="rId17"/>
    <p:sldId id="26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1546343"/>
            <a:ext cx="10767059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 B.Tech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 – 1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/>
              <a:t>SKIN LESION TRIAGE AND MONITORING SYSTEM WITH QUALITY GUIDED CAPTURE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47949" y="3646621"/>
            <a:ext cx="7071360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Rohit Shrivastava   		(23BCE0052)</a:t>
            </a: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Anshika Rai			(23BCE0080)</a:t>
            </a:r>
          </a:p>
          <a:p>
            <a:pPr marL="149225" indent="-136525" algn="just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Harshita Singh                              (23BCE0103)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lang="en-US" sz="2000" b="1" dirty="0" err="1">
                <a:latin typeface="Times New Roman"/>
                <a:cs typeface="Times New Roman"/>
              </a:rPr>
              <a:t>Dr.Sharmila</a:t>
            </a:r>
            <a:r>
              <a:rPr lang="en-US" sz="2000" b="1" dirty="0">
                <a:latin typeface="Times New Roman"/>
                <a:cs typeface="Times New Roman"/>
              </a:rPr>
              <a:t> C.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60853D-2D46-AA55-6A9A-E50A4DF92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4540"/>
            <a:ext cx="1008746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To develop an explainable AI-powered web platform for preliminary skin lesion classification and doctor-assisted </a:t>
            </a:r>
            <a:r>
              <a:rPr lang="en-IN" dirty="0" err="1"/>
              <a:t>teledermatology</a:t>
            </a:r>
            <a:r>
              <a:rPr lang="en-IN" dirty="0"/>
              <a:t> consultation, improving accessibility, supporting early skin disease detection, and reducing wait times for dermatological care.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05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876"/>
            <a:ext cx="10515600" cy="5272088"/>
          </a:xfrm>
        </p:spPr>
        <p:txBody>
          <a:bodyPr>
            <a:normAutofit fontScale="85000" lnSpcReduction="10000"/>
          </a:bodyPr>
          <a:lstStyle/>
          <a:p>
            <a:pPr lvl="0" algn="just"/>
            <a:r>
              <a:rPr lang="en-IN" sz="2400" dirty="0"/>
              <a:t>The proposed </a:t>
            </a:r>
            <a:r>
              <a:rPr lang="en-IN" sz="2400" b="1" dirty="0"/>
              <a:t>AI Derma Assistant</a:t>
            </a:r>
            <a:r>
              <a:rPr lang="en-IN" sz="2400" dirty="0"/>
              <a:t> is a </a:t>
            </a:r>
            <a:r>
              <a:rPr lang="en-IN" sz="2400" b="1" dirty="0"/>
              <a:t>web-based platform</a:t>
            </a:r>
            <a:r>
              <a:rPr lang="en-IN" sz="2400" dirty="0"/>
              <a:t> designed to provide </a:t>
            </a:r>
            <a:r>
              <a:rPr lang="en-IN" sz="2400" b="1" dirty="0"/>
              <a:t>preliminary AI-driven skin lesion screening</a:t>
            </a:r>
            <a:r>
              <a:rPr lang="en-IN" sz="2400" dirty="0"/>
              <a:t> and improve accessibility to dermatological care</a:t>
            </a:r>
          </a:p>
          <a:p>
            <a:pPr lvl="0" algn="just"/>
            <a:r>
              <a:rPr lang="en-IN" sz="2400" dirty="0"/>
              <a:t>The system utilizes a </a:t>
            </a:r>
            <a:r>
              <a:rPr lang="en-IN" sz="2400" b="1" dirty="0"/>
              <a:t>ResNet18 Convolutional Neural Network (CNN)</a:t>
            </a:r>
            <a:r>
              <a:rPr lang="en-IN" sz="2400" dirty="0"/>
              <a:t> with </a:t>
            </a:r>
            <a:r>
              <a:rPr lang="en-IN" sz="2400" b="1" dirty="0"/>
              <a:t>transfer learning</a:t>
            </a:r>
            <a:r>
              <a:rPr lang="en-IN" sz="2400" dirty="0"/>
              <a:t> to classify user-uploaded skin lesion images into </a:t>
            </a:r>
            <a:r>
              <a:rPr lang="en-IN" sz="2400" b="1" dirty="0"/>
              <a:t>seven clinically relevant categories</a:t>
            </a:r>
            <a:r>
              <a:rPr lang="en-IN" sz="2400" dirty="0"/>
              <a:t>.</a:t>
            </a:r>
          </a:p>
          <a:p>
            <a:pPr lvl="0" algn="just"/>
            <a:r>
              <a:rPr lang="en-IN" sz="2400" dirty="0"/>
              <a:t>To improve transparency and user trust, the platform integrates </a:t>
            </a:r>
            <a:r>
              <a:rPr lang="en-IN" sz="2400" b="1" dirty="0"/>
              <a:t>Grad-CAM (Explainable AI)</a:t>
            </a:r>
            <a:r>
              <a:rPr lang="en-IN" sz="2400" dirty="0"/>
              <a:t>, which generates </a:t>
            </a:r>
            <a:r>
              <a:rPr lang="en-IN" sz="2400" b="1" dirty="0"/>
              <a:t>visual heatmaps</a:t>
            </a:r>
            <a:r>
              <a:rPr lang="en-IN" sz="2400" dirty="0"/>
              <a:t> highlighting the regions responsible for the model's predictions. </a:t>
            </a:r>
          </a:p>
          <a:p>
            <a:pPr lvl="0" algn="just"/>
            <a:r>
              <a:rPr lang="en-IN" sz="2400" dirty="0"/>
              <a:t>A </a:t>
            </a:r>
            <a:r>
              <a:rPr lang="en-IN" sz="2400" b="1" dirty="0"/>
              <a:t>Large Language Model (LLM)-powered conversational assistant</a:t>
            </a:r>
            <a:r>
              <a:rPr lang="en-IN" sz="2400" dirty="0"/>
              <a:t> enables users to ask natural-language questions and receive easy-to-understand explanations of the AI results. </a:t>
            </a:r>
          </a:p>
          <a:p>
            <a:pPr lvl="0" algn="just"/>
            <a:r>
              <a:rPr lang="en-IN" sz="2400" dirty="0"/>
              <a:t>The platform incorporates a </a:t>
            </a:r>
            <a:r>
              <a:rPr lang="en-IN" sz="2400" b="1" dirty="0" err="1"/>
              <a:t>teledermatology</a:t>
            </a:r>
            <a:r>
              <a:rPr lang="en-IN" sz="2400" b="1" dirty="0"/>
              <a:t> module</a:t>
            </a:r>
            <a:r>
              <a:rPr lang="en-IN" sz="2400" dirty="0"/>
              <a:t> that forwards AI-generated reports to </a:t>
            </a:r>
            <a:r>
              <a:rPr lang="en-IN" sz="2400" b="1" dirty="0"/>
              <a:t>registered dermatologists</a:t>
            </a:r>
            <a:r>
              <a:rPr lang="en-IN" sz="2400" dirty="0"/>
              <a:t> for professional verification and consultation. </a:t>
            </a:r>
          </a:p>
          <a:p>
            <a:pPr lvl="0" algn="just"/>
            <a:r>
              <a:rPr lang="en-IN" sz="2400" dirty="0"/>
              <a:t>The system is intended as a </a:t>
            </a:r>
            <a:r>
              <a:rPr lang="en-IN" sz="2400" b="1" dirty="0"/>
              <a:t>triage and awareness tool</a:t>
            </a:r>
            <a:r>
              <a:rPr lang="en-IN" sz="2400" dirty="0"/>
              <a:t>, supporting healthcare professionals rather than replacing clinical diagnosis. </a:t>
            </a:r>
          </a:p>
          <a:p>
            <a:pPr lvl="0" algn="just"/>
            <a:r>
              <a:rPr lang="en-IN" sz="2400" dirty="0"/>
              <a:t>By integrating </a:t>
            </a:r>
            <a:r>
              <a:rPr lang="en-IN" sz="2400" b="1" dirty="0"/>
              <a:t>computer vision, Explainable AI, conversational AI, and human-in-the-loop verification</a:t>
            </a:r>
            <a:r>
              <a:rPr lang="en-IN" sz="2400" dirty="0"/>
              <a:t>, the proposed platform aims to deliver a </a:t>
            </a:r>
            <a:r>
              <a:rPr lang="en-IN" sz="2400" b="1" dirty="0"/>
              <a:t>scalable, accessible, transparent, and trustworthy</a:t>
            </a:r>
            <a:r>
              <a:rPr lang="en-IN" sz="2400" dirty="0"/>
              <a:t> solution for early-stage skin health screening. </a:t>
            </a:r>
          </a:p>
          <a:p>
            <a:pPr lvl="0" algn="just"/>
            <a:r>
              <a:rPr lang="en-IN" sz="2400" dirty="0"/>
              <a:t>The overall goal is to </a:t>
            </a:r>
            <a:r>
              <a:rPr lang="en-IN" sz="2400" b="1" dirty="0"/>
              <a:t>support early detection, enable timely referrals, and reduce the burden on dermatological healthcare services</a:t>
            </a:r>
            <a:r>
              <a:rPr lang="en-IN" sz="2400" dirty="0"/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34733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pic>
        <p:nvPicPr>
          <p:cNvPr id="6" name="Content Placeholder 10">
            <a:extLst>
              <a:ext uri="{FF2B5EF4-FFF2-40B4-BE49-F238E27FC236}">
                <a16:creationId xmlns:a16="http://schemas.microsoft.com/office/drawing/2014/main" id="{D7B18893-791B-BAE4-C9C7-0375D6959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329934"/>
            <a:ext cx="10011155" cy="484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E208-EFCF-72BA-8356-37C5A7AD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9B9DF33-B210-5964-F7E3-7E09A7378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5D08DA0-5F3B-F453-F08C-7A8051C6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8F6D3BC-9020-19DD-D787-8E1098E2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644EE5-068C-7C00-BAF7-ED9421AE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4EF6AF15-79D1-8D64-52FE-9EB067ADB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754" y="1504950"/>
            <a:ext cx="10108902" cy="451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4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49"/>
            <a:ext cx="10515600" cy="467201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200" b="1" dirty="0"/>
              <a:t>Gap 1: Lack of Clinical Validation for AI Explanations</a:t>
            </a:r>
            <a:endParaRPr lang="en-IN" sz="3200" dirty="0"/>
          </a:p>
          <a:p>
            <a:pPr lvl="0" algn="just"/>
            <a:r>
              <a:rPr lang="en-IN" dirty="0"/>
              <a:t>LLM chatbots have been shown to translate diagnostic results into plain language, but this is validated mostly through </a:t>
            </a:r>
            <a:r>
              <a:rPr lang="en-IN" b="1" dirty="0"/>
              <a:t>simulated interactions</a:t>
            </a:r>
            <a:r>
              <a:rPr lang="en-IN" dirty="0"/>
              <a:t>, not real clinical trials</a:t>
            </a:r>
          </a:p>
          <a:p>
            <a:pPr lvl="0" algn="just"/>
            <a:r>
              <a:rPr lang="en-IN" dirty="0"/>
              <a:t>Only </a:t>
            </a:r>
            <a:r>
              <a:rPr lang="en-IN" b="1" dirty="0"/>
              <a:t>16%</a:t>
            </a:r>
            <a:r>
              <a:rPr lang="en-IN" dirty="0"/>
              <a:t> of LLM-based chatbot studies have reached actual clinical efficacy testing; the rest remain in early technical validation</a:t>
            </a:r>
          </a:p>
          <a:p>
            <a:pPr marL="0" lvl="0" indent="0" algn="just">
              <a:buNone/>
            </a:pPr>
            <a:r>
              <a:rPr lang="en-IN" sz="3200" b="1" dirty="0"/>
              <a:t>Gap 2: No Long-Term Safety or Outcome Tracking</a:t>
            </a:r>
          </a:p>
          <a:p>
            <a:pPr lvl="0" algn="just"/>
            <a:r>
              <a:rPr lang="en-IN" dirty="0"/>
              <a:t>No existing studies track patient harm, confusion, or misunderstanding caused by AI-generated explanations over time</a:t>
            </a:r>
          </a:p>
          <a:p>
            <a:pPr lvl="0" algn="just"/>
            <a:r>
              <a:rPr lang="en-IN" dirty="0"/>
              <a:t>Known risks of chatbots </a:t>
            </a:r>
            <a:r>
              <a:rPr lang="en-IN" b="1" dirty="0"/>
              <a:t>hallucinating false information</a:t>
            </a:r>
            <a:r>
              <a:rPr lang="en-IN" dirty="0"/>
              <a:t> remain unaddressed in real-world diagnostic use</a:t>
            </a:r>
          </a:p>
          <a:p>
            <a:pPr marL="0" lvl="0" indent="0" algn="just">
              <a:buNone/>
            </a:pPr>
            <a:r>
              <a:rPr lang="en-IN" sz="3200" b="1" dirty="0"/>
              <a:t>Gap 3: Weak Methodological Standards</a:t>
            </a:r>
          </a:p>
          <a:p>
            <a:pPr lvl="0" algn="just"/>
            <a:r>
              <a:rPr lang="en-IN" b="1" dirty="0"/>
              <a:t>65%</a:t>
            </a:r>
            <a:r>
              <a:rPr lang="en-IN" dirty="0"/>
              <a:t> of chatbot health-advice studies rely on subjective evaluation instead of objective comprehension metrics</a:t>
            </a:r>
          </a:p>
          <a:p>
            <a:pPr lvl="0" algn="just"/>
            <a:r>
              <a:rPr lang="en-IN" dirty="0"/>
              <a:t>Most studies fail to disclose model configuration (temperature, prompt design), making results </a:t>
            </a:r>
            <a:r>
              <a:rPr lang="en-IN" b="1" dirty="0"/>
              <a:t>difficult to reproduce or verify</a:t>
            </a:r>
            <a:endParaRPr lang="en-IN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6CF4-F1A1-F49C-A0CB-E61EDD3D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1A9C-2EF4-EAF0-468C-CFE51FBF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49"/>
            <a:ext cx="10515600" cy="467201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3200" b="1" dirty="0"/>
              <a:t>Gap 4: Inconsistent, Unsupervised Explanations</a:t>
            </a:r>
            <a:endParaRPr lang="en-IN" sz="3200" dirty="0"/>
          </a:p>
          <a:p>
            <a:pPr lvl="0" algn="just"/>
            <a:r>
              <a:rPr lang="en-IN" dirty="0"/>
              <a:t>Chatbots like ChatGPT generate </a:t>
            </a:r>
            <a:r>
              <a:rPr lang="en-IN" b="1" dirty="0"/>
              <a:t>different responses to the same medical report</a:t>
            </a:r>
            <a:r>
              <a:rPr lang="en-IN" dirty="0"/>
              <a:t> on repeated queries, risking inconsistent patient understanding</a:t>
            </a:r>
          </a:p>
          <a:p>
            <a:pPr lvl="0" algn="just"/>
            <a:r>
              <a:rPr lang="en-IN" dirty="0"/>
              <a:t>No system currently combines image-based AI diagnosis with a </a:t>
            </a:r>
            <a:r>
              <a:rPr lang="en-IN" b="1" dirty="0"/>
              <a:t>dermatologist-verified</a:t>
            </a:r>
            <a:r>
              <a:rPr lang="en-IN" dirty="0"/>
              <a:t>, explainable conversational layer</a:t>
            </a:r>
          </a:p>
          <a:p>
            <a:pPr marL="0" indent="0" algn="just">
              <a:buNone/>
            </a:pPr>
            <a:r>
              <a:rPr lang="en-IN" sz="3200" b="1" dirty="0"/>
              <a:t>Gap 5: Lack of External and Multi-Centre Validation</a:t>
            </a:r>
          </a:p>
          <a:p>
            <a:pPr lvl="0" algn="just"/>
            <a:r>
              <a:rPr lang="en-IN" dirty="0"/>
              <a:t>Many dermatology AI models are evaluated on </a:t>
            </a:r>
            <a:r>
              <a:rPr lang="en-IN" b="1" dirty="0"/>
              <a:t>single datasets or single institutional data</a:t>
            </a:r>
            <a:r>
              <a:rPr lang="en-IN" dirty="0"/>
              <a:t>, limiting confidence in their performance across different hospitals and patient populations.</a:t>
            </a:r>
          </a:p>
          <a:p>
            <a:pPr lvl="0" algn="just"/>
            <a:r>
              <a:rPr lang="en-IN" dirty="0"/>
              <a:t>Performance can decline when models encounter </a:t>
            </a:r>
            <a:r>
              <a:rPr lang="en-IN" b="1" dirty="0"/>
              <a:t>new imaging devices, clinical settings, disease distributions, or demographic groups</a:t>
            </a:r>
            <a:r>
              <a:rPr lang="en-IN" dirty="0"/>
              <a:t> that were not represented during training.</a:t>
            </a:r>
          </a:p>
          <a:p>
            <a:pPr marL="0" lvl="0" indent="0" algn="just">
              <a:buNone/>
            </a:pPr>
            <a:r>
              <a:rPr lang="en-IN" sz="3200" b="1" dirty="0"/>
              <a:t>Gap 6: Poor Integration with Real Clinical Workflows</a:t>
            </a:r>
          </a:p>
          <a:p>
            <a:pPr algn="just"/>
            <a:r>
              <a:rPr lang="en-IN" dirty="0"/>
              <a:t>No existing studies track patient harm, confusion, or misunderstanding caused by AI-generated explanations over time</a:t>
            </a:r>
          </a:p>
          <a:p>
            <a:pPr lvl="0" algn="just"/>
            <a:r>
              <a:rPr lang="en-IN" dirty="0"/>
              <a:t>Known risks of chatbots </a:t>
            </a:r>
            <a:r>
              <a:rPr lang="en-IN" b="1" dirty="0"/>
              <a:t>hallucinating false information</a:t>
            </a:r>
            <a:r>
              <a:rPr lang="en-IN" dirty="0"/>
              <a:t> remain unaddressed in real-world diagnostic use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9F66DEC-415D-7DD5-2735-64CA39FA7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8F2B4-1629-546D-6097-6E4BDED7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757B-5A00-E582-A70B-3124EE3A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6ECF-E8E4-E687-35A8-D0AA74EB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03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BFBD-76D6-2D65-9E1F-27706453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0949-3C2E-6AA7-A79B-0F470DCBA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1"/>
            <a:ext cx="10515600" cy="47672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Gap 7: Accuracy Without Clinical Deployment</a:t>
            </a:r>
            <a:endParaRPr lang="en-IN" sz="2400" dirty="0"/>
          </a:p>
          <a:p>
            <a:pPr lvl="0" algn="just"/>
            <a:r>
              <a:rPr lang="en-IN" sz="2000" dirty="0"/>
              <a:t>Deep learning models achieve dermatologist-level accuracy (</a:t>
            </a:r>
            <a:r>
              <a:rPr lang="en-IN" sz="2000" b="1" dirty="0"/>
              <a:t>82%–99%</a:t>
            </a:r>
            <a:r>
              <a:rPr lang="en-IN" sz="2000" dirty="0"/>
              <a:t>) on benchmark datasets, but a critical gap exists between benchmark performance and real-world clinical deployment and generalizability</a:t>
            </a:r>
          </a:p>
          <a:p>
            <a:pPr marL="0" indent="0" algn="just">
              <a:buNone/>
            </a:pPr>
            <a:r>
              <a:rPr lang="en-IN" sz="2400" b="1" dirty="0"/>
              <a:t>Gap 8: "Black Box" Trust Problem</a:t>
            </a:r>
            <a:endParaRPr lang="en-IN" sz="2400" dirty="0"/>
          </a:p>
          <a:p>
            <a:pPr lvl="0" algn="just"/>
            <a:r>
              <a:rPr lang="en-IN" sz="2000" dirty="0"/>
              <a:t>Most medical AI systems remain black boxes, causing clinicians to hesitate in trusting unvalidated model logic</a:t>
            </a:r>
          </a:p>
          <a:p>
            <a:pPr lvl="0" algn="just"/>
            <a:r>
              <a:rPr lang="en-IN" sz="2000" dirty="0"/>
              <a:t>While XAI methods like </a:t>
            </a:r>
            <a:r>
              <a:rPr lang="en-IN" sz="2000" b="1" dirty="0"/>
              <a:t>Grad-CAM improve transparency</a:t>
            </a:r>
            <a:r>
              <a:rPr lang="en-IN" sz="2000" dirty="0"/>
              <a:t>, </a:t>
            </a:r>
            <a:r>
              <a:rPr lang="en-US" sz="2000" dirty="0"/>
              <a:t>zero prospective clinical trials are evaluating</a:t>
            </a:r>
            <a:r>
              <a:rPr lang="en-IN" sz="2000" dirty="0"/>
              <a:t> whether these explanations actually improve live diagnostic decisions</a:t>
            </a:r>
          </a:p>
          <a:p>
            <a:pPr marL="0" indent="0" algn="just">
              <a:buNone/>
            </a:pPr>
            <a:r>
              <a:rPr lang="en-IN" sz="2400" b="1" dirty="0"/>
              <a:t>Gap 9: Severe Dataset Bias</a:t>
            </a:r>
            <a:endParaRPr lang="en-IN" sz="2400" dirty="0"/>
          </a:p>
          <a:p>
            <a:pPr lvl="0" algn="just"/>
            <a:r>
              <a:rPr lang="en-IN" sz="2000" b="1" dirty="0"/>
              <a:t>92% of studies</a:t>
            </a:r>
            <a:r>
              <a:rPr lang="en-IN" sz="2000" dirty="0"/>
              <a:t> carry high risk-of-bias judgments</a:t>
            </a:r>
          </a:p>
          <a:p>
            <a:pPr lvl="0" algn="just"/>
            <a:r>
              <a:rPr lang="en-IN" sz="2000" dirty="0"/>
              <a:t>Near-total absence of participant ethnicity reporting, with heavy reliance on </a:t>
            </a:r>
            <a:r>
              <a:rPr lang="en-IN" sz="2000" b="1" dirty="0"/>
              <a:t>fair-skinned populations</a:t>
            </a:r>
            <a:r>
              <a:rPr lang="en-IN" sz="2000" dirty="0"/>
              <a:t>  limiting generalizability across diverse skin tones</a:t>
            </a:r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619C01D-6C96-D898-6D68-D3F19134A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B3380-29AC-35F1-6D9A-F650BB63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D3582-F3BF-98A9-D4DA-D3049A08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7CE9-5257-E517-8414-92DE6B1D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0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1. To develop a skin lesion classification model using transfer learning (ResNet18)</a:t>
            </a:r>
            <a:endParaRPr lang="en-IN" sz="2400" dirty="0"/>
          </a:p>
          <a:p>
            <a:pPr lvl="0" algn="just"/>
            <a:r>
              <a:rPr lang="en-IN" sz="2000" dirty="0"/>
              <a:t>Justified by Nigar et al. (2022), who applied ResNet18 on the ISIC 2019 dataset and achieved </a:t>
            </a:r>
            <a:r>
              <a:rPr lang="en-IN" sz="2000" b="1" dirty="0"/>
              <a:t>94.47% accuracy</a:t>
            </a:r>
            <a:r>
              <a:rPr lang="en-IN" sz="2000" dirty="0"/>
              <a:t> for multiclass classification, confirming that pre-trained CNN weights are highly effective for dermatological imaging tasks</a:t>
            </a:r>
          </a:p>
          <a:p>
            <a:pPr marL="0" indent="0" algn="just">
              <a:buNone/>
            </a:pPr>
            <a:r>
              <a:rPr lang="en-IN" sz="2400" b="1" dirty="0"/>
              <a:t>2. To integrate Grad-CAM for explainable AI-driven predictions</a:t>
            </a:r>
            <a:endParaRPr lang="en-IN" sz="2400" dirty="0"/>
          </a:p>
          <a:p>
            <a:pPr lvl="0" algn="just"/>
            <a:r>
              <a:rPr lang="en-IN" sz="2000" dirty="0"/>
              <a:t>Justified by </a:t>
            </a:r>
            <a:r>
              <a:rPr lang="en-IN" sz="2000" dirty="0" err="1"/>
              <a:t>Mridha</a:t>
            </a:r>
            <a:r>
              <a:rPr lang="en-IN" sz="2000" dirty="0"/>
              <a:t> et al. (2023) and Zia Ur Rehman et al. (2022), who used Grad-CAM heatmaps to visually highlight the model's focal regions — significantly improving trust for both users and doctors through visual reasoning</a:t>
            </a:r>
          </a:p>
          <a:p>
            <a:pPr marL="0" indent="0" algn="just">
              <a:buNone/>
            </a:pPr>
            <a:r>
              <a:rPr lang="en-IN" sz="2400" b="1" dirty="0"/>
              <a:t>3. To combine AI-based triage with human doctor verification via a </a:t>
            </a:r>
            <a:r>
              <a:rPr lang="en-IN" sz="2400" b="1" dirty="0" err="1"/>
              <a:t>teledermatology</a:t>
            </a:r>
            <a:r>
              <a:rPr lang="en-IN" sz="2400" b="1" dirty="0"/>
              <a:t> module</a:t>
            </a:r>
            <a:endParaRPr lang="en-IN" sz="2400" dirty="0"/>
          </a:p>
          <a:p>
            <a:pPr lvl="0" algn="just"/>
            <a:r>
              <a:rPr lang="en-IN" sz="2000" dirty="0"/>
              <a:t>Justified by Esteva et al. (2017), who showed AI on mobile devices can extend specialist reach beyond the clinic — supporting a workflow where registered doctors review AI-generated reports for final verification and prescription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0AF1-65AD-F769-1564-2E7C62C3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F8E3C-70C6-DCBF-60A7-033B85563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126"/>
            <a:ext cx="10515600" cy="55578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Primary SDG: SDG 3 – Good Health and Well-Being</a:t>
            </a:r>
            <a:endParaRPr lang="en-IN" sz="2400" dirty="0"/>
          </a:p>
          <a:p>
            <a:pPr marL="0" lvl="0" indent="0" algn="just">
              <a:buNone/>
            </a:pPr>
            <a:r>
              <a:rPr lang="en-IN" sz="2000" dirty="0"/>
              <a:t>Directly aligns with the project's core aim: improving early detection and access to dermatological screening, particularly for underserved and remote populations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b="1" dirty="0"/>
              <a:t>Outcomes</a:t>
            </a:r>
          </a:p>
          <a:p>
            <a:pPr marL="0" lvl="0" indent="0" algn="just">
              <a:buNone/>
            </a:pPr>
            <a:r>
              <a:rPr lang="en-IN" sz="2000" b="1" dirty="0"/>
              <a:t>Conference Paper (Scopus-indexed)</a:t>
            </a:r>
            <a:r>
              <a:rPr lang="en-IN" sz="2000" dirty="0"/>
              <a:t> — based on the classification + explainability results</a:t>
            </a:r>
          </a:p>
          <a:p>
            <a:pPr marL="0" lvl="0" indent="0" algn="just">
              <a:buNone/>
            </a:pPr>
            <a:r>
              <a:rPr lang="en-IN" sz="2000" b="1" dirty="0"/>
              <a:t>Prototype / Product</a:t>
            </a:r>
            <a:r>
              <a:rPr lang="en-IN" sz="2000" dirty="0"/>
              <a:t> — the working AI Derma Assistant web application itself</a:t>
            </a:r>
          </a:p>
          <a:p>
            <a:pPr marL="0" lvl="0" indent="0" algn="just">
              <a:buNone/>
            </a:pPr>
            <a:endParaRPr lang="en-IN" sz="2000" dirty="0"/>
          </a:p>
          <a:p>
            <a:pPr marL="0" lvl="0" indent="0" algn="just">
              <a:buNone/>
            </a:pPr>
            <a:r>
              <a:rPr lang="en-IN" sz="2400" b="1" dirty="0"/>
              <a:t>Current Technology Readiness Level: TRL 4</a:t>
            </a:r>
            <a:r>
              <a:rPr lang="en-IN" sz="2400" dirty="0"/>
              <a:t> – </a:t>
            </a:r>
          </a:p>
          <a:p>
            <a:pPr marL="0" lvl="0" indent="0" algn="just">
              <a:buNone/>
            </a:pPr>
            <a:r>
              <a:rPr lang="en-IN" sz="2000" dirty="0"/>
              <a:t>The core components (ResNet18 classification model, Grad-CAM explainability, and conversational AI module) have been developed and validated together in a lab/development environment, though the system has not yet been tested with real end-users or in a live clinical setting.</a:t>
            </a:r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8F673-E26D-A13F-71CB-84A3B2B0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858D-7D0B-76F2-F3C6-F5FF1B10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20264-2738-EF71-A234-802BA6D0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9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System Architecture">
            <a:extLst>
              <a:ext uri="{FF2B5EF4-FFF2-40B4-BE49-F238E27FC236}">
                <a16:creationId xmlns:a16="http://schemas.microsoft.com/office/drawing/2014/main" id="{859ECAC2-5DF0-D0BD-4C81-7CADB064B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39" t="6992" r="6187" b="13907"/>
          <a:stretch>
            <a:fillRect/>
          </a:stretch>
        </p:blipFill>
        <p:spPr>
          <a:xfrm>
            <a:off x="990600" y="1685925"/>
            <a:ext cx="10172699" cy="4391025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Secure Role-Based Access :</a:t>
            </a:r>
            <a:r>
              <a:rPr lang="en-IN" dirty="0"/>
              <a:t> Authenticates users and separates user, doctor, and administrator functions.</a:t>
            </a:r>
          </a:p>
          <a:p>
            <a:r>
              <a:rPr lang="en-IN" b="1" dirty="0"/>
              <a:t>Image Submission and Storage :</a:t>
            </a:r>
            <a:r>
              <a:rPr lang="en-IN" dirty="0"/>
              <a:t> Collects a lesion image and questionnaire response, detects duplicate uploads, and stores case records.</a:t>
            </a:r>
          </a:p>
          <a:p>
            <a:r>
              <a:rPr lang="en-IN" b="1" dirty="0"/>
              <a:t>Preliminary Lesion Analysis :</a:t>
            </a:r>
            <a:r>
              <a:rPr lang="en-IN" dirty="0"/>
              <a:t> Returns one of seven target classes with a confidence value.</a:t>
            </a:r>
          </a:p>
          <a:p>
            <a:r>
              <a:rPr lang="en-IN" b="1" dirty="0"/>
              <a:t>Visual Explanation :</a:t>
            </a:r>
            <a:r>
              <a:rPr lang="en-IN" dirty="0"/>
              <a:t> Generates a Grad-CAM heatmap to show the image region that influenced the prediction.</a:t>
            </a:r>
          </a:p>
          <a:p>
            <a:r>
              <a:rPr lang="en-IN" b="1" dirty="0"/>
              <a:t>Symptom and Similar-Case Context :</a:t>
            </a:r>
            <a:r>
              <a:rPr lang="en-IN" dirty="0"/>
              <a:t> Calculates the initial severity index and retrieves visually similar stored cases.</a:t>
            </a:r>
          </a:p>
          <a:p>
            <a:r>
              <a:rPr lang="en-IN" b="1" dirty="0"/>
              <a:t>Doctor Feedback and Review :</a:t>
            </a:r>
            <a:r>
              <a:rPr lang="en-IN" dirty="0"/>
              <a:t> Lets verified doctors contribute labelled cases and administrators review dataset records.</a:t>
            </a:r>
          </a:p>
          <a:p>
            <a:r>
              <a:rPr lang="en-IN" b="1" dirty="0"/>
              <a:t>Planned Safety Features :</a:t>
            </a:r>
            <a:r>
              <a:rPr lang="en-IN" dirty="0"/>
              <a:t> Adds quality-guided capture, follow-up comparison, and verified-feedback evaluation in the final phase.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 Authentication and role control : Implemented</a:t>
            </a:r>
          </a:p>
          <a:p>
            <a:r>
              <a:rPr lang="en-IN" dirty="0"/>
              <a:t> Image intake, hashing, and storage : Implemented</a:t>
            </a:r>
          </a:p>
          <a:p>
            <a:r>
              <a:rPr lang="en-IN" dirty="0"/>
              <a:t> Classification and Grad-CAM explanation : Implemented</a:t>
            </a:r>
          </a:p>
          <a:p>
            <a:r>
              <a:rPr lang="en-IN" dirty="0"/>
              <a:t> Questionnaire, chat, and initial severity index : Implemented</a:t>
            </a:r>
          </a:p>
          <a:p>
            <a:r>
              <a:rPr lang="en-IN" dirty="0"/>
              <a:t> Similar-case retrieval : Implemented</a:t>
            </a:r>
          </a:p>
          <a:p>
            <a:r>
              <a:rPr lang="en-IN" dirty="0"/>
              <a:t> Doctor upload and administrator review : Implemented</a:t>
            </a:r>
          </a:p>
          <a:p>
            <a:r>
              <a:rPr lang="en-IN" dirty="0"/>
              <a:t> Quality-guided capture and longitudinal monitoring : Final-phase development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4C56EB-D693-F27A-3435-530127266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712503"/>
            <a:ext cx="5257800" cy="4351338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E4695D-1D57-3A24-560A-08A923F0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520" y="1712503"/>
            <a:ext cx="55429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current prototype completes an end-to-end preliminary lesion-screening workflow with secure access, image analysis, visual explanation, similar-case retrieval, symptom-aware severity support, and doctor-labelled data contribution. The final phase will add quality-guided capture, explainable confidence-aware triage, repeated-image monitoring, and a verified feedback workflow. The platform remains a decision-support prototype and requires clinical validation before any medical deployment.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2975" y="1657017"/>
            <a:ext cx="10515600" cy="413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sz="2400" dirty="0"/>
              <a:t>[1] A. Esteva et al., "Dermatologist-level classification of skin cancer with deep neural networks," </a:t>
            </a:r>
            <a:r>
              <a:rPr lang="en-IN" sz="2400" i="1" dirty="0"/>
              <a:t>Nature</a:t>
            </a:r>
            <a:r>
              <a:rPr lang="en-IN" sz="2400" dirty="0"/>
              <a:t>, vol. 542, no. 7639, pp. 115-118, Feb. 2017.</a:t>
            </a:r>
          </a:p>
          <a:p>
            <a:pPr marL="0" indent="0" algn="just">
              <a:buNone/>
            </a:pPr>
            <a:r>
              <a:rPr lang="en-IN" sz="2400" dirty="0"/>
              <a:t>[2] N. Ahmad et al., "A novel framework of multiclass skin lesion recognition from </a:t>
            </a:r>
            <a:r>
              <a:rPr lang="en-IN" sz="2400" dirty="0" err="1"/>
              <a:t>dermoscopic</a:t>
            </a:r>
            <a:r>
              <a:rPr lang="en-IN" sz="2400" dirty="0"/>
              <a:t> images using deep learning and explainable AI," </a:t>
            </a:r>
            <a:r>
              <a:rPr lang="en-IN" sz="2400" i="1" dirty="0"/>
              <a:t>Frontiers in Oncology</a:t>
            </a:r>
            <a:r>
              <a:rPr lang="en-IN" sz="2400" dirty="0"/>
              <a:t>, vol. 13, p. 1151257, June 2023.</a:t>
            </a:r>
          </a:p>
          <a:p>
            <a:pPr marL="0" indent="0" algn="just">
              <a:buNone/>
            </a:pPr>
            <a:r>
              <a:rPr lang="en-IN" sz="2400" dirty="0"/>
              <a:t>[3] N. Nigar et al., "A deep learning approach based on explainable artificial intelligence for skin lesion classification," </a:t>
            </a:r>
            <a:r>
              <a:rPr lang="en-IN" sz="2400" i="1" dirty="0"/>
              <a:t>IEEE Access</a:t>
            </a:r>
            <a:r>
              <a:rPr lang="en-IN" sz="2400" dirty="0"/>
              <a:t>, vol. 10, pp. 113715-113725, 2022.</a:t>
            </a:r>
          </a:p>
          <a:p>
            <a:pPr marL="0" indent="0" algn="just">
              <a:buNone/>
            </a:pPr>
            <a:r>
              <a:rPr lang="en-IN" sz="2400" dirty="0"/>
              <a:t>[4] K. </a:t>
            </a:r>
            <a:r>
              <a:rPr lang="en-IN" sz="2400" dirty="0" err="1"/>
              <a:t>Mridha</a:t>
            </a:r>
            <a:r>
              <a:rPr lang="en-IN" sz="2400" dirty="0"/>
              <a:t> et al., "An interpretable skin cancer classification using optimized convolutional neural network for a smart healthcare system," </a:t>
            </a:r>
            <a:r>
              <a:rPr lang="en-IN" sz="2400" i="1" dirty="0"/>
              <a:t>IEEE Access</a:t>
            </a:r>
            <a:r>
              <a:rPr lang="en-IN" sz="2400" dirty="0"/>
              <a:t>, vol. 11, pp. 41003-41018, 2023.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1A13-384B-15BD-420C-78296EE8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7F9B-6299-82C9-AC05-8D486E6C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B3C35-DF62-365F-E30B-FD5FF030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FA64F-E542-B6E1-F703-024FE3A89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18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08EE1B-5E42-A76C-F81B-EF74EF271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[5] P. Murali and D. H. Mazumder, "</a:t>
            </a:r>
            <a:r>
              <a:rPr lang="en-IN" dirty="0" err="1"/>
              <a:t>DermaScanAI</a:t>
            </a:r>
            <a:r>
              <a:rPr lang="en-IN" dirty="0"/>
              <a:t> an explainable hybrid deep learning framework for automated skin lesion classification using dual attention and metadata fusion," </a:t>
            </a:r>
            <a:r>
              <a:rPr lang="en-IN" i="1" dirty="0"/>
              <a:t>Scientific Reports</a:t>
            </a:r>
            <a:r>
              <a:rPr lang="en-IN" dirty="0"/>
              <a:t>, vol. 16, no. 1, p. 15130, March 2026.</a:t>
            </a:r>
          </a:p>
          <a:p>
            <a:pPr marL="0" indent="0" algn="just">
              <a:buNone/>
            </a:pPr>
            <a:r>
              <a:rPr lang="en-IN" dirty="0"/>
              <a:t>[6] A. S. Al-</a:t>
            </a:r>
            <a:r>
              <a:rPr lang="en-IN" dirty="0" err="1"/>
              <a:t>Waisy</a:t>
            </a:r>
            <a:r>
              <a:rPr lang="en-IN" dirty="0"/>
              <a:t> et al., "A deep learning framework for automated early diagnosis and classification of skin cancer lesions in </a:t>
            </a:r>
            <a:r>
              <a:rPr lang="en-IN" dirty="0" err="1"/>
              <a:t>dermoscopy</a:t>
            </a:r>
            <a:r>
              <a:rPr lang="en-IN" dirty="0"/>
              <a:t> images," </a:t>
            </a:r>
            <a:r>
              <a:rPr lang="en-IN" i="1" dirty="0"/>
              <a:t>Scientific Reports</a:t>
            </a:r>
            <a:r>
              <a:rPr lang="en-IN" dirty="0"/>
              <a:t>, vol. 15, no. 1, p. 31234, Aug. 2025.</a:t>
            </a:r>
          </a:p>
          <a:p>
            <a:pPr marL="0" indent="0" algn="just">
              <a:buNone/>
            </a:pPr>
            <a:r>
              <a:rPr lang="en-IN" dirty="0"/>
              <a:t>[7] S. Aksoy et al., "Web-based multimodal deep learning platform with XRAI explainability for real-time skin lesion classification and clinical decision support," </a:t>
            </a:r>
            <a:r>
              <a:rPr lang="en-IN" i="1" dirty="0"/>
              <a:t>Cosmetics</a:t>
            </a:r>
            <a:r>
              <a:rPr lang="en-IN" dirty="0"/>
              <a:t>, vol. 12, no. 5, p. 194, 2025.</a:t>
            </a:r>
          </a:p>
          <a:p>
            <a:pPr marL="0" indent="0">
              <a:buNone/>
            </a:pPr>
            <a:r>
              <a:rPr lang="en-IN" dirty="0"/>
              <a:t>[8] M. Zia Ur Rehman et al., "Classification of skin cancer lesions using explainable deep learning," </a:t>
            </a:r>
            <a:r>
              <a:rPr lang="en-IN" i="1" dirty="0"/>
              <a:t>Sensors</a:t>
            </a:r>
            <a:r>
              <a:rPr lang="en-IN" dirty="0"/>
              <a:t>, vol. 22, no. 18, p. 6915, 2022.</a:t>
            </a:r>
          </a:p>
        </p:txBody>
      </p:sp>
    </p:spTree>
    <p:extLst>
      <p:ext uri="{BB962C8B-B14F-4D97-AF65-F5344CB8AC3E}">
        <p14:creationId xmlns:p14="http://schemas.microsoft.com/office/powerpoint/2010/main" val="777484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8434-0F4D-D7BE-2921-F1A9C4C1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F7A85-CF72-9194-CCDA-1DC2518B5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AB18D-15CC-A63A-79CC-43ECE42F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24712-75A7-CD5C-2839-E4543EA1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19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FC6704-ADFF-8BF7-A17D-834219628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550"/>
            <a:ext cx="10515600" cy="5586413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[9] F. Afza et al., "Multiclass skin lesion classification using hybrid deep features selection and extreme learning machine," </a:t>
            </a:r>
            <a:r>
              <a:rPr lang="en-IN" i="1" dirty="0"/>
              <a:t>Sensors</a:t>
            </a:r>
            <a:r>
              <a:rPr lang="en-IN" dirty="0"/>
              <a:t>, vol. 22, no. 3, p. 799, 2022.</a:t>
            </a:r>
          </a:p>
          <a:p>
            <a:pPr marL="0" indent="0" algn="just">
              <a:buNone/>
            </a:pPr>
            <a:r>
              <a:rPr lang="en-IN" dirty="0"/>
              <a:t>[10] H. </a:t>
            </a:r>
            <a:r>
              <a:rPr lang="en-IN" dirty="0" err="1"/>
              <a:t>Owida</a:t>
            </a:r>
            <a:r>
              <a:rPr lang="en-IN" dirty="0"/>
              <a:t> et al., "A deep learning-based dual-branch framework for automated skin lesion segmentation and classification via </a:t>
            </a:r>
            <a:r>
              <a:rPr lang="en-IN" dirty="0" err="1"/>
              <a:t>dermoscopic</a:t>
            </a:r>
            <a:r>
              <a:rPr lang="en-IN" dirty="0"/>
              <a:t> images," </a:t>
            </a:r>
            <a:r>
              <a:rPr lang="en-IN" i="1" dirty="0"/>
              <a:t>Scientific Reports</a:t>
            </a:r>
            <a:r>
              <a:rPr lang="en-IN" dirty="0"/>
              <a:t>, vol. 15, no. 1, p. 21783, 2025.</a:t>
            </a:r>
          </a:p>
          <a:p>
            <a:pPr marL="0" indent="0" algn="just">
              <a:buNone/>
            </a:pPr>
            <a:r>
              <a:rPr lang="en-IN" dirty="0"/>
              <a:t>[11] M. A. Kassem et al., "Machine learning and deep learning methods for skin lesion classification and diagnosis: a systematic review," </a:t>
            </a:r>
            <a:r>
              <a:rPr lang="en-IN" i="1" dirty="0"/>
              <a:t>Diagnostics</a:t>
            </a:r>
            <a:r>
              <a:rPr lang="en-IN" dirty="0"/>
              <a:t>, vol. 11, no. 8, p. 1390, Aug. 2021.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446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1751</Words>
  <Application>Microsoft Office PowerPoint</Application>
  <PresentationFormat>Widescreen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Programme B.Tech BCSE497J – Project – 1  SKIN LESION TRIAGE AND MONITORING SYSTEM WITH QUALITY GUIDED CAPTURE</vt:lpstr>
      <vt:lpstr>Approval Mail From Guide</vt:lpstr>
      <vt:lpstr>Aim</vt:lpstr>
      <vt:lpstr>Abstract</vt:lpstr>
      <vt:lpstr>Literature Review</vt:lpstr>
      <vt:lpstr>Literature Review</vt:lpstr>
      <vt:lpstr>Research Gap</vt:lpstr>
      <vt:lpstr>Research Gap</vt:lpstr>
      <vt:lpstr>Research Gap</vt:lpstr>
      <vt:lpstr>Objectives</vt:lpstr>
      <vt:lpstr>PowerPoint Presentation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ROHIT SHRIVASTAVA</cp:lastModifiedBy>
  <cp:revision>8</cp:revision>
  <dcterms:created xsi:type="dcterms:W3CDTF">2026-07-14T06:00:41Z</dcterms:created>
  <dcterms:modified xsi:type="dcterms:W3CDTF">2026-09-09T06:22:54Z</dcterms:modified>
</cp:coreProperties>
</file>